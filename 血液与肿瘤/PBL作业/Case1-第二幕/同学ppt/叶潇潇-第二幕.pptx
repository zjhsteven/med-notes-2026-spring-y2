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24FF8-53F4-0705-666E-4C6D96CBE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13EE9A-7906-6D92-8650-D92B79257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8308A-5A93-5DD6-32F4-07B966C5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DC289-C87B-25DD-6B8C-FD8FE437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F9185-35E6-140D-5660-E52618FE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39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76D9B-E36B-0CA5-C893-E409F52E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DA1C4-73F4-6018-BA82-B0A029A2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EB467-00F1-D4A8-EF65-3DFA5DD5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742F9A-4BD1-0D14-C5E0-FB277ACA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4AE0E3-99DC-8534-BD7B-232B09C7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54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ACCFE-87A3-9B1A-4D69-A5D06543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E83E98-18F1-DB2B-C44B-846D87035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0059C6-44CC-C683-01F6-101259BA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2C000-970B-8132-8D6E-44FCDF7B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F6C22-58EA-7D21-84FE-FFCA6F34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40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31ED0-91BC-3ABC-C689-A6039D2C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5E00C-D8D4-9D6C-AA65-869C60B27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13F520-9101-CD4A-85F0-44BDFA98A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64AE51-0639-473C-EDD1-0F0D11B5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6456FE-8B75-A56B-69CF-9C6FCC4C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58A2D1-AF7E-5F41-4374-DF6DE3B4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12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0339A-2CD2-89F0-AF1C-F8FB5E6A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F5F4F-D767-E30C-614E-C5B02EE01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351B88-2F9C-2B00-ACC8-9BE8342AF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20C776-4688-A001-A5E1-BB4CDE6BE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7E5729-92FD-F92F-514B-7FA6018B5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5ED07D-67F6-E967-E3E4-5A097FD9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31D5C3-35FA-2D54-2158-BB4779E0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2C8235-1415-73CB-02C2-466C23CC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1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881A0-64A2-0810-659A-144BF986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17A144-3708-2C40-58CF-7C7FABB6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2A65DE-F4DF-8BC8-D159-BC001934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6C27B2-275B-73BC-AC04-542B637B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8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209A85-33F4-87B6-EC2B-B1941589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E8874D-4CF3-10B6-1C60-5FD0FB0B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5933D6-937D-CB19-7C81-CD2BEAD4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73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A5C10-508C-FBE2-2B05-D42B2526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032F7-2BA5-CE7C-1121-3077411E7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5E2074-5A6E-4577-4320-514CA9BF7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0731A2-8E2B-CAFE-1C25-597BF7AD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AD68DB-5E02-38F1-6F4F-50314199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534DB6-382D-B2B6-77AB-369D8A2D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02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1FEC8-A5C9-AE68-97E1-10C03267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2DFB48-80C2-AEB0-0A30-D6EBA9E7A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52BCEC-8E87-7988-C21B-297FE6524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226EFB-81ED-6B02-F05E-61D1B35E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2F861-8087-DA9F-A2EA-39909F949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970444-19A0-DCCB-5E6D-73DB26F4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33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6B345-B5F5-2668-4F8B-4E3CA9EB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440ED8-8400-6C1E-D978-BC60A1386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5B29B-E3DB-9D0B-0F85-54593AB7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B9F94-15A9-47C2-7150-0D959508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7F771-BE52-DF95-253B-6A926BD3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87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853D9-F416-0644-B184-6AD147585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69C82A-1A84-D684-791F-9AAB8EFF7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9AE42-3540-450B-AB38-D37955DC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C26BD-0492-B5DD-C905-29F31459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6EF8B-1F05-4136-3DBE-FAB6EA30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78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2FED05-ECAE-49B8-6146-A29ADA79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491FF3-A2E3-8D20-9885-2EE455354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C57083-91DE-5C5C-18B4-FD726479B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8FDFC-4BA3-4F3A-951F-190D3F44462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CB652-7776-3158-05B0-52E0A59BA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E8C2B-9D87-7847-7FF5-3A8176CBB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C2528-4F1C-47D8-A9B6-E9B01AE85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10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038/s41586-025-08817-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6-025-08817-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04A6C-E431-41D7-6AEA-2E78697DE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87296" y="7076936"/>
            <a:ext cx="9144000" cy="238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D56F0C-0E67-CCE3-597C-534B37D71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6083" y="7116472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1699AD-718E-C3A6-64D4-8BA5BAB1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3" y="1328766"/>
            <a:ext cx="4268954" cy="42004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083973-CE8D-2B56-13F7-DDF37F053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24" y="1246359"/>
            <a:ext cx="3548251" cy="45041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E3F3AF6-2FE9-C3AF-69FE-20BFB0314787}"/>
              </a:ext>
            </a:extLst>
          </p:cNvPr>
          <p:cNvSpPr txBox="1"/>
          <p:nvPr/>
        </p:nvSpPr>
        <p:spPr>
          <a:xfrm>
            <a:off x="651053" y="507695"/>
            <a:ext cx="79271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BCR::ABL1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驱动的慢性髓系白血病的发生时间与演化轨迹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552645-785F-EECF-E40C-DE59BCBFAA65}"/>
              </a:ext>
            </a:extLst>
          </p:cNvPr>
          <p:cNvSpPr txBox="1"/>
          <p:nvPr/>
        </p:nvSpPr>
        <p:spPr>
          <a:xfrm>
            <a:off x="4614638" y="6193337"/>
            <a:ext cx="7357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Kamizela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A.E., 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Leongamornlert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Williams, N. et al. Timing and trajectory of BCR::ABL1-driven chronic myeloid 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leukaemia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640, 982–990 (2025).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https://doi.org/10.1038/s41586-025-08817-2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E7693C-4A58-46DC-0E9D-A873470D36A9}"/>
              </a:ext>
            </a:extLst>
          </p:cNvPr>
          <p:cNvSpPr txBox="1"/>
          <p:nvPr/>
        </p:nvSpPr>
        <p:spPr>
          <a:xfrm>
            <a:off x="9787467" y="877027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姓名：叶潇潇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B70890-4269-BBBF-43E6-7B11C307DDE9}"/>
              </a:ext>
            </a:extLst>
          </p:cNvPr>
          <p:cNvSpPr txBox="1"/>
          <p:nvPr/>
        </p:nvSpPr>
        <p:spPr>
          <a:xfrm>
            <a:off x="7967133" y="2504129"/>
            <a:ext cx="41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关键结论：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额外致癌突变几乎都不在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CML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克隆里</a:t>
            </a: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CML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真的是单靠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BCR::ABL1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054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ED3F9-70A2-528D-EC06-81A328C9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83" y="6941490"/>
            <a:ext cx="10515600" cy="132556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DB221F-A14B-1082-DD31-72984B980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64" y="7326656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DF6F5C-482B-ED31-F93E-ADE59A339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15" y="0"/>
            <a:ext cx="6987285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CA41DF-6633-7ADB-A0DE-13B2933FD6B2}"/>
              </a:ext>
            </a:extLst>
          </p:cNvPr>
          <p:cNvSpPr txBox="1"/>
          <p:nvPr/>
        </p:nvSpPr>
        <p:spPr>
          <a:xfrm>
            <a:off x="99364" y="6102576"/>
            <a:ext cx="4893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Kamizela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A.E., 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Leongamornlert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Williams, N. et al. Timing and trajectory of BCR::ABL1-driven chronic myeloid 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leukaemia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640, 982–990 (2025).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https://doi.org/10.1038/s41586-025-08817-2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5F4A79-59FF-7C30-27FD-7EB91068884D}"/>
              </a:ext>
            </a:extLst>
          </p:cNvPr>
          <p:cNvSpPr txBox="1"/>
          <p:nvPr/>
        </p:nvSpPr>
        <p:spPr>
          <a:xfrm>
            <a:off x="524933" y="12530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D2E0CD-0EAE-A90E-7FDA-AF88812F5E99}"/>
              </a:ext>
            </a:extLst>
          </p:cNvPr>
          <p:cNvSpPr txBox="1"/>
          <p:nvPr/>
        </p:nvSpPr>
        <p:spPr>
          <a:xfrm>
            <a:off x="0" y="2451124"/>
            <a:ext cx="5323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直观证明：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CML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克隆不是慢慢演化，而是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突然爆发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爆发前只有一个单一突变：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BCR::ABL1</a:t>
            </a: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最邻近共同祖先（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MRCA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）非常近，说明发病极快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直接推翻 “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CML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要很多突变才会成癌” 的旧观点</a:t>
            </a:r>
          </a:p>
        </p:txBody>
      </p:sp>
    </p:spTree>
    <p:extLst>
      <p:ext uri="{BB962C8B-B14F-4D97-AF65-F5344CB8AC3E}">
        <p14:creationId xmlns:p14="http://schemas.microsoft.com/office/powerpoint/2010/main" val="427903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0B9E2-9987-D5C2-635E-F40E7057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9067" y="7045325"/>
            <a:ext cx="10515600" cy="13255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C7C2CD6-4319-0266-B432-CBBBC186B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38041"/>
            <a:ext cx="5668188" cy="43513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251FD2F-0D1E-7AC6-8A6E-EA300EDD5026}"/>
              </a:ext>
            </a:extLst>
          </p:cNvPr>
          <p:cNvSpPr txBox="1"/>
          <p:nvPr/>
        </p:nvSpPr>
        <p:spPr>
          <a:xfrm>
            <a:off x="643467" y="677333"/>
            <a:ext cx="403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Q7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：白血病的一级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二级预防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327B82-A28A-5E5D-0483-6B8276C77FE5}"/>
              </a:ext>
            </a:extLst>
          </p:cNvPr>
          <p:cNvSpPr txBox="1"/>
          <p:nvPr/>
        </p:nvSpPr>
        <p:spPr>
          <a:xfrm>
            <a:off x="9337674" y="908165"/>
            <a:ext cx="1678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姓名：叶潇潇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C1DAE4-51CB-B06B-2375-3AAD869C06EF}"/>
              </a:ext>
            </a:extLst>
          </p:cNvPr>
          <p:cNvSpPr txBox="1"/>
          <p:nvPr/>
        </p:nvSpPr>
        <p:spPr>
          <a:xfrm>
            <a:off x="6791688" y="1833096"/>
            <a:ext cx="21611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一级预防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病因预防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严格规避致癌物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A2D117-4B67-159B-8943-CE94E56D9A33}"/>
              </a:ext>
            </a:extLst>
          </p:cNvPr>
          <p:cNvSpPr txBox="1"/>
          <p:nvPr/>
        </p:nvSpPr>
        <p:spPr>
          <a:xfrm>
            <a:off x="6791688" y="3846064"/>
            <a:ext cx="48333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二级预防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早筛早诊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对于赵阿姨的家人：存在白血病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家族史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每年一次规范体检：浅表淋巴结与肝脾触诊、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腹部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超、血常规及外周血涂片分类等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DA181A-ACF7-4ED4-89C9-12535E71EDCA}"/>
              </a:ext>
            </a:extLst>
          </p:cNvPr>
          <p:cNvSpPr txBox="1"/>
          <p:nvPr/>
        </p:nvSpPr>
        <p:spPr>
          <a:xfrm>
            <a:off x="5452534" y="6178434"/>
            <a:ext cx="65870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[1]</a:t>
            </a:r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上海市抗癌协会，复旦大学附属肿瘤医院</a:t>
            </a:r>
            <a:r>
              <a:rPr lang="en-US" altLang="zh-CN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居民常见恶性肿瘤筛查和预防推荐（</a:t>
            </a:r>
            <a:r>
              <a:rPr lang="en-US" altLang="zh-CN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2024</a:t>
            </a:r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版） </a:t>
            </a:r>
            <a:r>
              <a:rPr lang="en-US" altLang="zh-CN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[Z]. 2024.</a:t>
            </a:r>
          </a:p>
          <a:p>
            <a:r>
              <a:rPr lang="en-US" altLang="zh-CN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[2] </a:t>
            </a:r>
            <a:r>
              <a:rPr lang="en-US" altLang="zh-CN" sz="1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International Agency for Research on Cancer (IARC). IARC Monographs on the Evaluation of Carcinogenic Risks to Humans[M]. Lyon: IARC Press, 1972-. </a:t>
            </a:r>
            <a:endParaRPr lang="zh-CN" altLang="en-US" sz="1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2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301</Words>
  <Application>Microsoft Office PowerPoint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xiaoxiao ye</dc:creator>
  <cp:lastModifiedBy>xiaoxiao ye</cp:lastModifiedBy>
  <cp:revision>4</cp:revision>
  <dcterms:created xsi:type="dcterms:W3CDTF">2026-03-30T10:18:16Z</dcterms:created>
  <dcterms:modified xsi:type="dcterms:W3CDTF">2026-03-30T11:25:09Z</dcterms:modified>
</cp:coreProperties>
</file>