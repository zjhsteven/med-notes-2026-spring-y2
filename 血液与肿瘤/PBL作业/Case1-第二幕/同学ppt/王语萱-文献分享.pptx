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0"/>
        <p:guide pos="38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8115" y="79375"/>
            <a:ext cx="1093470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RHOA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调控的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IGFBP2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促进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BCR-ABL1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阳性慢性髓系白血病的侵袭并驱动其进展。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35690" y="277495"/>
            <a:ext cx="884555" cy="361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王语萱</a:t>
            </a: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120" y="5988685"/>
            <a:ext cx="11591290" cy="86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Zhang H, Cai B, Liu Y, Chong Y, Matsunaga A, Mori SF, Fang X, Kitamura E, Chang CS, Wang P, Cowell JK, Hu T. RHOA-regulated IGFBP2 promotes invasion and drives progression of BCR-ABL1 chronic myeloid leukemia. Haematologica. 2023 Jan 1;108(1):122-134. doi: 10.3324/haematol.2022.280757. PMID: 35833297; PMCID: PMC9827165.</a:t>
            </a:r>
            <a:endParaRPr lang="en-US" altLang="zh-CN" sz="1400"/>
          </a:p>
        </p:txBody>
      </p:sp>
      <p:sp>
        <p:nvSpPr>
          <p:cNvPr id="30" name="AutoShape 12"/>
          <p:cNvSpPr/>
          <p:nvPr/>
        </p:nvSpPr>
        <p:spPr>
          <a:xfrm>
            <a:off x="359410" y="2094230"/>
            <a:ext cx="2180590" cy="79438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BCR-ABL1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</a:t>
            </a:r>
            <a:r>
              <a:rPr lang="en-US" altLang="zh-CN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p210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</a:p>
        </p:txBody>
      </p:sp>
      <p:pic>
        <p:nvPicPr>
          <p:cNvPr id="32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0" y="2301240"/>
            <a:ext cx="381000" cy="381000"/>
          </a:xfrm>
          <a:prstGeom prst="rect">
            <a:avLst/>
          </a:prstGeom>
        </p:spPr>
      </p:pic>
      <p:sp>
        <p:nvSpPr>
          <p:cNvPr id="33" name="AutoShape 15"/>
          <p:cNvSpPr/>
          <p:nvPr/>
        </p:nvSpPr>
        <p:spPr>
          <a:xfrm>
            <a:off x="2970530" y="2237740"/>
            <a:ext cx="1843405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RHOA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基因</a:t>
            </a:r>
          </a:p>
        </p:txBody>
      </p:sp>
      <p:pic>
        <p:nvPicPr>
          <p:cNvPr id="35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500" y="2301240"/>
            <a:ext cx="381000" cy="381000"/>
          </a:xfrm>
          <a:prstGeom prst="rect">
            <a:avLst/>
          </a:prstGeom>
        </p:spPr>
      </p:pic>
      <p:sp>
        <p:nvSpPr>
          <p:cNvPr id="36" name="AutoShape 18"/>
          <p:cNvSpPr/>
          <p:nvPr/>
        </p:nvSpPr>
        <p:spPr>
          <a:xfrm>
            <a:off x="5270500" y="2237740"/>
            <a:ext cx="1778000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SRF入核转录</a:t>
            </a:r>
          </a:p>
        </p:txBody>
      </p:sp>
      <p:pic>
        <p:nvPicPr>
          <p:cNvPr id="38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9465" y="2301240"/>
            <a:ext cx="381000" cy="381000"/>
          </a:xfrm>
          <a:prstGeom prst="rect">
            <a:avLst/>
          </a:prstGeom>
        </p:spPr>
      </p:pic>
      <p:sp>
        <p:nvSpPr>
          <p:cNvPr id="39" name="AutoShape 21"/>
          <p:cNvSpPr/>
          <p:nvPr/>
        </p:nvSpPr>
        <p:spPr>
          <a:xfrm>
            <a:off x="7631430" y="2237740"/>
            <a:ext cx="1920240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激活IGFBP2</a:t>
            </a:r>
          </a:p>
        </p:txBody>
      </p:sp>
      <p:pic>
        <p:nvPicPr>
          <p:cNvPr id="4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635" y="2301240"/>
            <a:ext cx="381000" cy="381000"/>
          </a:xfrm>
          <a:prstGeom prst="rect">
            <a:avLst/>
          </a:prstGeom>
        </p:spPr>
      </p:pic>
      <p:sp>
        <p:nvSpPr>
          <p:cNvPr id="42" name="AutoShape 18"/>
          <p:cNvSpPr/>
          <p:nvPr/>
        </p:nvSpPr>
        <p:spPr>
          <a:xfrm>
            <a:off x="10033635" y="2094230"/>
            <a:ext cx="1718945" cy="84645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黏附、迁移、归巢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23"/>
          <p:cNvSpPr/>
          <p:nvPr/>
        </p:nvSpPr>
        <p:spPr>
          <a:xfrm>
            <a:off x="576580" y="1249680"/>
            <a:ext cx="11176000" cy="635000"/>
          </a:xfrm>
          <a:prstGeom prst="roundRect">
            <a:avLst>
              <a:gd name="adj" fmla="val 20000"/>
            </a:avLst>
          </a:prstGeom>
          <a:solidFill>
            <a:srgbClr val="003366">
              <a:alpha val="10000"/>
            </a:srgbClr>
          </a:solidFill>
          <a:ln w="12700" cap="flat" cmpd="sng">
            <a:solidFill>
              <a:srgbClr val="003366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080" y="1376680"/>
            <a:ext cx="381000" cy="381000"/>
          </a:xfrm>
          <a:prstGeom prst="rect">
            <a:avLst/>
          </a:prstGeom>
        </p:spPr>
      </p:pic>
      <p:sp>
        <p:nvSpPr>
          <p:cNvPr id="47" name="AutoShape 25"/>
          <p:cNvSpPr/>
          <p:nvPr/>
        </p:nvSpPr>
        <p:spPr>
          <a:xfrm>
            <a:off x="1211580" y="124968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核心假设：RHOA-SRF-IGFBP2轴决定CML细胞归巢能力，进而控制幼稚白细胞累积与疾病进展。</a:t>
            </a:r>
            <a:endParaRPr lang="en-US" sz="1100"/>
          </a:p>
        </p:txBody>
      </p:sp>
      <p:sp>
        <p:nvSpPr>
          <p:cNvPr id="48" name="圆角矩形 47"/>
          <p:cNvSpPr/>
          <p:nvPr/>
        </p:nvSpPr>
        <p:spPr>
          <a:xfrm>
            <a:off x="452120" y="3522980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敲除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RHOA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体外增殖影响较小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体内抑制白细胞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增殖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322320" y="3554730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RNA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测序和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RT-PCR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IGFBP2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显著下调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9551670" y="3554730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蛋白质免疫印迹实验：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RHOA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激活剂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细胞中定位于细胞核的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SRF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蛋白量显著增加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514465" y="3554730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荧光素酶基因上游插入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IGFBP2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启动子：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SRF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能特异性结合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IGFBP2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的启动子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8115" y="79375"/>
            <a:ext cx="1093470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RHOA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调控的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IGFBP2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促进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BCR-ABL1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阳性慢性髓系白血病的侵袭并驱动其进展。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35690" y="277495"/>
            <a:ext cx="884555" cy="361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王语萱</a:t>
            </a: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120" y="5988685"/>
            <a:ext cx="11591290" cy="86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Zhang H, Cai B, Liu Y, Chong Y, Matsunaga A, Mori SF, Fang X, Kitamura E, Chang CS, Wang P, Cowell JK, Hu T. RHOA-regulated IGFBP2 promotes invasion and drives progression of BCR-ABL1 chronic myeloid leukemia. Haematologica. 2023 Jan 1;108(1):122-134. doi: 10.3324/haematol.2022.280757. PMID: 35833297; PMCID: PMC9827165.</a:t>
            </a:r>
            <a:endParaRPr lang="en-US" altLang="zh-CN" sz="1400"/>
          </a:p>
        </p:txBody>
      </p:sp>
      <p:sp>
        <p:nvSpPr>
          <p:cNvPr id="30" name="AutoShape 12"/>
          <p:cNvSpPr/>
          <p:nvPr/>
        </p:nvSpPr>
        <p:spPr>
          <a:xfrm>
            <a:off x="359410" y="2094230"/>
            <a:ext cx="2180590" cy="79438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BCR-ABL1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</a:t>
            </a:r>
            <a:r>
              <a:rPr lang="en-US" altLang="zh-CN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p210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2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0" y="2301240"/>
            <a:ext cx="381000" cy="381000"/>
          </a:xfrm>
          <a:prstGeom prst="rect">
            <a:avLst/>
          </a:prstGeom>
        </p:spPr>
      </p:pic>
      <p:sp>
        <p:nvSpPr>
          <p:cNvPr id="33" name="AutoShape 15"/>
          <p:cNvSpPr/>
          <p:nvPr/>
        </p:nvSpPr>
        <p:spPr>
          <a:xfrm>
            <a:off x="2970530" y="2237740"/>
            <a:ext cx="1843405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RHOA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基因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5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500" y="2301240"/>
            <a:ext cx="381000" cy="381000"/>
          </a:xfrm>
          <a:prstGeom prst="rect">
            <a:avLst/>
          </a:prstGeom>
        </p:spPr>
      </p:pic>
      <p:sp>
        <p:nvSpPr>
          <p:cNvPr id="36" name="AutoShape 18"/>
          <p:cNvSpPr/>
          <p:nvPr/>
        </p:nvSpPr>
        <p:spPr>
          <a:xfrm>
            <a:off x="5270500" y="2237740"/>
            <a:ext cx="1778000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SRF入核转录</a:t>
            </a:r>
            <a:endParaRPr 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8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9465" y="2301240"/>
            <a:ext cx="381000" cy="381000"/>
          </a:xfrm>
          <a:prstGeom prst="rect">
            <a:avLst/>
          </a:prstGeom>
        </p:spPr>
      </p:pic>
      <p:sp>
        <p:nvSpPr>
          <p:cNvPr id="39" name="AutoShape 21"/>
          <p:cNvSpPr/>
          <p:nvPr/>
        </p:nvSpPr>
        <p:spPr>
          <a:xfrm>
            <a:off x="7631430" y="2237740"/>
            <a:ext cx="1920240" cy="50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激活IGFBP2</a:t>
            </a:r>
            <a:endParaRPr 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635" y="2301240"/>
            <a:ext cx="381000" cy="381000"/>
          </a:xfrm>
          <a:prstGeom prst="rect">
            <a:avLst/>
          </a:prstGeom>
        </p:spPr>
      </p:pic>
      <p:sp>
        <p:nvSpPr>
          <p:cNvPr id="42" name="AutoShape 18"/>
          <p:cNvSpPr/>
          <p:nvPr/>
        </p:nvSpPr>
        <p:spPr>
          <a:xfrm>
            <a:off x="10033635" y="2094230"/>
            <a:ext cx="1718945" cy="84645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黏附、迁移、归巢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23"/>
          <p:cNvSpPr/>
          <p:nvPr/>
        </p:nvSpPr>
        <p:spPr>
          <a:xfrm>
            <a:off x="576580" y="1249680"/>
            <a:ext cx="11176000" cy="635000"/>
          </a:xfrm>
          <a:prstGeom prst="roundRect">
            <a:avLst>
              <a:gd name="adj" fmla="val 20000"/>
            </a:avLst>
          </a:prstGeom>
          <a:solidFill>
            <a:srgbClr val="003366">
              <a:alpha val="10000"/>
            </a:srgbClr>
          </a:solidFill>
          <a:ln w="12700" cap="flat" cmpd="sng">
            <a:solidFill>
              <a:srgbClr val="003366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080" y="1376680"/>
            <a:ext cx="381000" cy="381000"/>
          </a:xfrm>
          <a:prstGeom prst="rect">
            <a:avLst/>
          </a:prstGeom>
        </p:spPr>
      </p:pic>
      <p:sp>
        <p:nvSpPr>
          <p:cNvPr id="47" name="AutoShape 25"/>
          <p:cNvSpPr/>
          <p:nvPr/>
        </p:nvSpPr>
        <p:spPr>
          <a:xfrm>
            <a:off x="1211580" y="124968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核心假设：RHOA-SRF-IGFBP2轴决定CML细胞归巢能力，进而控制幼稚白细胞累积与疾病进展。</a:t>
            </a:r>
            <a:endParaRPr lang="en-US" sz="1100"/>
          </a:p>
        </p:txBody>
      </p:sp>
      <p:sp>
        <p:nvSpPr>
          <p:cNvPr id="48" name="圆角矩形 47"/>
          <p:cNvSpPr/>
          <p:nvPr/>
        </p:nvSpPr>
        <p:spPr>
          <a:xfrm>
            <a:off x="4634865" y="3225165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入外源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IGFBP2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蛋白：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细胞的黏附、迁移能力恢复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8636000" y="3225165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敲除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IGFBP2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基因：细胞黏附、迁移能力大幅下降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942340" y="3225165"/>
            <a:ext cx="2413635" cy="1624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体外基质迁移实验和体内骨髓归巢实验：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  <a:sym typeface="+mn-ea"/>
              </a:rPr>
              <a:t>敲除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RHOA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黏附、迁移、骨髓归巢能力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</a:t>
            </a:r>
            <a:endParaRPr lang="zh-CN" altLang="en-US" b="1">
              <a:solidFill>
                <a:schemeClr val="accent1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9550" y="5329555"/>
            <a:ext cx="935926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无法定植骨髓</a:t>
            </a:r>
            <a:r>
              <a:rPr lang="en-US" altLang="zh-CN" sz="2400" b="1"/>
              <a:t> </a:t>
            </a:r>
            <a:r>
              <a:rPr lang="en-US" altLang="en-US" sz="2400" b="1"/>
              <a:t>→</a:t>
            </a:r>
            <a:r>
              <a:rPr lang="en-US" altLang="zh-CN" sz="2400" b="1"/>
              <a:t> </a:t>
            </a:r>
            <a:r>
              <a:rPr lang="zh-CN" altLang="en-US" sz="2400" b="1"/>
              <a:t>无法持续产生幼稚白细胞</a:t>
            </a:r>
            <a:r>
              <a:rPr lang="en-US" altLang="zh-CN" sz="2400" b="1"/>
              <a:t> </a:t>
            </a:r>
            <a:r>
              <a:rPr lang="en-US" altLang="en-US" sz="2400" b="1"/>
              <a:t>→</a:t>
            </a:r>
            <a:r>
              <a:rPr lang="en-US" altLang="zh-CN" sz="2400" b="1"/>
              <a:t> </a:t>
            </a:r>
            <a:r>
              <a:rPr lang="zh-CN" altLang="en-US" sz="2400" b="1"/>
              <a:t>体内白血病被抑制</a:t>
            </a:r>
            <a:endParaRPr lang="zh-CN" altLang="en-US" sz="2400" b="1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演示</Application>
  <PresentationFormat>宽屏</PresentationFormat>
  <Paragraphs>56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Noto Sans SC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niaaa</cp:lastModifiedBy>
  <cp:revision>158</cp:revision>
  <dcterms:created xsi:type="dcterms:W3CDTF">2019-06-19T02:08:00Z</dcterms:created>
  <dcterms:modified xsi:type="dcterms:W3CDTF">2026-03-28T23:34:38Z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E78F3A7977424F90908D5B5BD35D7137_11</vt:lpwstr>
  </property>
</Properties>
</file>