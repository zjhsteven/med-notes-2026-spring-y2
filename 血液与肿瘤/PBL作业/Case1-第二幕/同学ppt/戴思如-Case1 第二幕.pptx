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8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8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8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8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63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3.jpeg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27430" y="254000"/>
            <a:ext cx="406400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800">
                <a:latin typeface="Arial" panose="02080604020202020204" pitchFamily="34" charset="0"/>
                <a:ea typeface="微软雅黑" charset="-122"/>
              </a:rPr>
              <a:t>Q6:CML</a:t>
            </a:r>
            <a:r>
              <a:rPr lang="zh-CN" altLang="en-US" sz="2800">
                <a:latin typeface="Arial" panose="02080604020202020204" pitchFamily="34" charset="0"/>
                <a:ea typeface="微软雅黑" charset="-122"/>
              </a:rPr>
              <a:t>的骨髓相特征</a:t>
            </a:r>
            <a:endParaRPr lang="zh-CN" altLang="en-US" sz="2800">
              <a:latin typeface="Arial" panose="02080604020202020204" pitchFamily="34" charset="0"/>
              <a:ea typeface="微软雅黑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16495" y="254000"/>
            <a:ext cx="406400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>
                <a:latin typeface="Arial" panose="02080604020202020204" pitchFamily="34" charset="0"/>
                <a:ea typeface="微软雅黑" charset="-122"/>
              </a:rPr>
              <a:t>姓名</a:t>
            </a:r>
            <a:r>
              <a:rPr lang="en-US" altLang="zh-CN" sz="2800">
                <a:latin typeface="Arial" panose="02080604020202020204" pitchFamily="34" charset="0"/>
                <a:ea typeface="微软雅黑" charset="-122"/>
              </a:rPr>
              <a:t>:</a:t>
            </a:r>
            <a:r>
              <a:rPr lang="zh-CN" altLang="en-US" sz="2800">
                <a:latin typeface="Arial" panose="02080604020202020204" pitchFamily="34" charset="0"/>
                <a:ea typeface="微软雅黑" charset="-122"/>
              </a:rPr>
              <a:t>戴思如</a:t>
            </a:r>
            <a:endParaRPr lang="zh-CN" altLang="en-US" sz="2800">
              <a:latin typeface="Arial" panose="02080604020202020204" pitchFamily="34" charset="0"/>
              <a:ea typeface="微软雅黑" charset="-122"/>
            </a:endParaRPr>
          </a:p>
        </p:txBody>
      </p:sp>
      <p:pic>
        <p:nvPicPr>
          <p:cNvPr id="7" name="图片 6" descr="screenshot_20260329_1820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" y="3453765"/>
            <a:ext cx="4156710" cy="2700020"/>
          </a:xfrm>
          <a:prstGeom prst="rect">
            <a:avLst/>
          </a:prstGeom>
        </p:spPr>
      </p:pic>
      <p:pic>
        <p:nvPicPr>
          <p:cNvPr id="8" name="图片 7" descr="IMG_20260330_0924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" y="890905"/>
            <a:ext cx="4157345" cy="2562860"/>
          </a:xfrm>
          <a:prstGeom prst="rect">
            <a:avLst/>
          </a:prstGeom>
        </p:spPr>
      </p:pic>
      <p:pic>
        <p:nvPicPr>
          <p:cNvPr id="9" name="图片 8" descr="screenshot_20260330_0936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890905"/>
            <a:ext cx="3176905" cy="2850515"/>
          </a:xfrm>
          <a:prstGeom prst="rect">
            <a:avLst/>
          </a:prstGeom>
        </p:spPr>
      </p:pic>
      <p:pic>
        <p:nvPicPr>
          <p:cNvPr id="10" name="图片 9" descr="screenshot_20260330_0936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1785" y="835660"/>
            <a:ext cx="2543810" cy="2912745"/>
          </a:xfrm>
          <a:prstGeom prst="rect">
            <a:avLst/>
          </a:prstGeom>
        </p:spPr>
      </p:pic>
      <p:pic>
        <p:nvPicPr>
          <p:cNvPr id="11" name="图片 10" descr="screenshot_20260330_0936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5510" y="3856355"/>
            <a:ext cx="3381375" cy="2837815"/>
          </a:xfrm>
          <a:prstGeom prst="rect">
            <a:avLst/>
          </a:prstGeom>
        </p:spPr>
      </p:pic>
      <p:pic>
        <p:nvPicPr>
          <p:cNvPr id="12" name="图片 11" descr="screenshot_20260330_0936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885" y="3856355"/>
            <a:ext cx="2582545" cy="283400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75920" y="6293485"/>
            <a:ext cx="4064000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80604020202020204" pitchFamily="34" charset="0"/>
                <a:ea typeface="微软雅黑" charset="-122"/>
              </a:rPr>
              <a:t>[1] </a:t>
            </a:r>
            <a:r>
              <a:rPr lang="zh-CN" altLang="en-US" sz="1800">
                <a:latin typeface="Arial" panose="02080604020202020204" pitchFamily="34" charset="0"/>
                <a:ea typeface="微软雅黑" charset="-122"/>
              </a:rPr>
              <a:t>王辰</a:t>
            </a:r>
            <a:r>
              <a:rPr lang="en-US" altLang="zh-CN" sz="1800">
                <a:latin typeface="Arial" panose="02080604020202020204" pitchFamily="34" charset="0"/>
                <a:ea typeface="微软雅黑" charset="-122"/>
              </a:rPr>
              <a:t>, </a:t>
            </a:r>
            <a:r>
              <a:rPr lang="zh-CN" altLang="en-US" sz="1800">
                <a:latin typeface="Arial" panose="02080604020202020204" pitchFamily="34" charset="0"/>
                <a:ea typeface="微软雅黑" charset="-122"/>
              </a:rPr>
              <a:t>王建安</a:t>
            </a:r>
            <a:r>
              <a:rPr lang="en-US" altLang="zh-CN" sz="1800">
                <a:latin typeface="Arial" panose="02080604020202020204" pitchFamily="34" charset="0"/>
                <a:ea typeface="微软雅黑" charset="-122"/>
              </a:rPr>
              <a:t>. </a:t>
            </a:r>
            <a:r>
              <a:rPr lang="zh-CN" altLang="en-US" sz="1800">
                <a:latin typeface="Arial" panose="02080604020202020204" pitchFamily="34" charset="0"/>
                <a:ea typeface="微软雅黑" charset="-122"/>
              </a:rPr>
              <a:t>诊断学</a:t>
            </a:r>
            <a:r>
              <a:rPr lang="en-US" altLang="zh-CN" sz="1800">
                <a:latin typeface="Arial" panose="02080604020202020204" pitchFamily="34" charset="0"/>
                <a:ea typeface="微软雅黑" charset="-122"/>
              </a:rPr>
              <a:t>[M]. </a:t>
            </a:r>
            <a:r>
              <a:rPr lang="zh-CN" altLang="en-US" sz="1800">
                <a:latin typeface="Arial" panose="02080604020202020204" pitchFamily="34" charset="0"/>
                <a:ea typeface="微软雅黑" charset="-122"/>
              </a:rPr>
              <a:t>第</a:t>
            </a:r>
            <a:r>
              <a:rPr lang="en-US" altLang="zh-CN" sz="1800">
                <a:latin typeface="Arial" panose="02080604020202020204" pitchFamily="34" charset="0"/>
                <a:ea typeface="微软雅黑" charset="-122"/>
              </a:rPr>
              <a:t>10</a:t>
            </a:r>
            <a:r>
              <a:rPr lang="zh-CN" altLang="en-US" sz="1800">
                <a:latin typeface="Arial" panose="02080604020202020204" pitchFamily="34" charset="0"/>
                <a:ea typeface="微软雅黑" charset="-122"/>
              </a:rPr>
              <a:t>版</a:t>
            </a:r>
            <a:r>
              <a:rPr lang="en-US" altLang="zh-CN" sz="1800">
                <a:latin typeface="Arial" panose="02080604020202020204" pitchFamily="34" charset="0"/>
                <a:ea typeface="微软雅黑" charset="-122"/>
              </a:rPr>
              <a:t>. </a:t>
            </a:r>
            <a:r>
              <a:rPr lang="zh-CN" altLang="en-US" sz="1800">
                <a:latin typeface="Arial" panose="02080604020202020204" pitchFamily="34" charset="0"/>
                <a:ea typeface="微软雅黑" charset="-122"/>
              </a:rPr>
              <a:t>北京</a:t>
            </a:r>
            <a:r>
              <a:rPr lang="en-US" altLang="zh-CN" sz="1800">
                <a:latin typeface="Arial" panose="02080604020202020204" pitchFamily="34" charset="0"/>
                <a:ea typeface="微软雅黑" charset="-122"/>
              </a:rPr>
              <a:t>: </a:t>
            </a:r>
            <a:r>
              <a:rPr lang="zh-CN" altLang="en-US" sz="1800">
                <a:latin typeface="Arial" panose="02080604020202020204" pitchFamily="34" charset="0"/>
                <a:ea typeface="微软雅黑" charset="-122"/>
              </a:rPr>
              <a:t>人民卫生出版社</a:t>
            </a:r>
            <a:r>
              <a:rPr lang="en-US" altLang="zh-CN" sz="1800">
                <a:latin typeface="Arial" panose="02080604020202020204" pitchFamily="34" charset="0"/>
                <a:ea typeface="微软雅黑" charset="-122"/>
              </a:rPr>
              <a:t>, 2020: 256-257</a:t>
            </a:r>
            <a:endParaRPr lang="en-US" altLang="zh-CN" sz="1800">
              <a:latin typeface="Arial" panose="02080604020202020204" pitchFamily="34" charset="0"/>
              <a:ea typeface="微软雅黑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79780" y="116840"/>
            <a:ext cx="628777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800">
                <a:latin typeface="Arial" panose="02080604020202020204" pitchFamily="34" charset="0"/>
                <a:ea typeface="微软雅黑" charset="-122"/>
              </a:rPr>
              <a:t>Q4:CML</a:t>
            </a:r>
            <a:r>
              <a:rPr lang="zh-CN" altLang="en-US" sz="2800">
                <a:latin typeface="Arial" panose="02080604020202020204" pitchFamily="34" charset="0"/>
                <a:ea typeface="微软雅黑" charset="-122"/>
              </a:rPr>
              <a:t>产生幼稚</a:t>
            </a:r>
            <a:r>
              <a:rPr lang="en-US" altLang="zh-CN" sz="2800">
                <a:latin typeface="Arial" panose="02080604020202020204" pitchFamily="34" charset="0"/>
                <a:ea typeface="微软雅黑" charset="-122"/>
              </a:rPr>
              <a:t>WBC</a:t>
            </a:r>
            <a:r>
              <a:rPr lang="zh-CN" altLang="en-US" sz="2800">
                <a:latin typeface="Arial" panose="02080604020202020204" pitchFamily="34" charset="0"/>
                <a:ea typeface="微软雅黑" charset="-122"/>
              </a:rPr>
              <a:t>的机制是什么</a:t>
            </a:r>
            <a:endParaRPr lang="zh-CN" altLang="en-US" sz="2800">
              <a:latin typeface="Arial" panose="02080604020202020204" pitchFamily="34" charset="0"/>
              <a:ea typeface="微软雅黑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18500" y="116840"/>
            <a:ext cx="406400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>
                <a:latin typeface="Arial" panose="02080604020202020204" pitchFamily="34" charset="0"/>
                <a:ea typeface="微软雅黑" charset="-122"/>
              </a:rPr>
              <a:t>姓名</a:t>
            </a:r>
            <a:r>
              <a:rPr lang="en-US" altLang="zh-CN" sz="2800">
                <a:latin typeface="Arial" panose="02080604020202020204" pitchFamily="34" charset="0"/>
                <a:ea typeface="微软雅黑" charset="-122"/>
              </a:rPr>
              <a:t>:</a:t>
            </a:r>
            <a:r>
              <a:rPr lang="zh-CN" altLang="en-US" sz="2800">
                <a:latin typeface="Arial" panose="02080604020202020204" pitchFamily="34" charset="0"/>
                <a:ea typeface="微软雅黑" charset="-122"/>
              </a:rPr>
              <a:t>戴思如</a:t>
            </a:r>
            <a:endParaRPr lang="zh-CN" altLang="en-US" sz="2800">
              <a:latin typeface="Arial" panose="02080604020202020204" pitchFamily="34" charset="0"/>
              <a:ea typeface="微软雅黑" charset="-122"/>
            </a:endParaRPr>
          </a:p>
        </p:txBody>
      </p:sp>
      <p:pic>
        <p:nvPicPr>
          <p:cNvPr id="2" name="图片 1" descr="screenshot_20260330_1024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638810"/>
            <a:ext cx="2950210" cy="6158865"/>
          </a:xfrm>
          <a:prstGeom prst="rect">
            <a:avLst/>
          </a:prstGeom>
        </p:spPr>
      </p:pic>
      <p:pic>
        <p:nvPicPr>
          <p:cNvPr id="3" name="图片 2" descr="screenshot_20260330_1028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530" y="638810"/>
            <a:ext cx="4679950" cy="2433320"/>
          </a:xfrm>
          <a:prstGeom prst="rect">
            <a:avLst/>
          </a:prstGeom>
        </p:spPr>
      </p:pic>
      <p:pic>
        <p:nvPicPr>
          <p:cNvPr id="6" name="图片 5" descr="screenshot_20260330_1055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3680" y="571500"/>
            <a:ext cx="2588895" cy="3406140"/>
          </a:xfrm>
          <a:prstGeom prst="rect">
            <a:avLst/>
          </a:prstGeom>
        </p:spPr>
      </p:pic>
      <p:pic>
        <p:nvPicPr>
          <p:cNvPr id="10" name="图片 9" descr="screenshot_20260330_1055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715" y="3072130"/>
            <a:ext cx="2346960" cy="3109595"/>
          </a:xfrm>
          <a:prstGeom prst="rect">
            <a:avLst/>
          </a:prstGeom>
        </p:spPr>
      </p:pic>
      <p:pic>
        <p:nvPicPr>
          <p:cNvPr id="11" name="图片 10" descr="screenshot_20260330_1056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7485" y="3895725"/>
            <a:ext cx="2696210" cy="2459355"/>
          </a:xfrm>
          <a:prstGeom prst="rect">
            <a:avLst/>
          </a:prstGeom>
        </p:spPr>
      </p:pic>
      <p:pic>
        <p:nvPicPr>
          <p:cNvPr id="12" name="图片 11" descr="screenshot_20260330_1057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0820" y="3072130"/>
            <a:ext cx="2724150" cy="31921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31285" y="6263640"/>
            <a:ext cx="8077835" cy="7366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[1] </a:t>
            </a:r>
            <a:r>
              <a:rPr lang="zh-CN" altLang="en-US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孔汝心</a:t>
            </a:r>
            <a:r>
              <a:rPr lang="en-US" altLang="zh-CN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, </a:t>
            </a:r>
            <a:r>
              <a:rPr lang="zh-CN" altLang="en-US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周亚群</a:t>
            </a:r>
            <a:r>
              <a:rPr lang="en-US" altLang="zh-CN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, </a:t>
            </a:r>
            <a:r>
              <a:rPr lang="zh-CN" altLang="en-US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魏婷宜</a:t>
            </a:r>
            <a:r>
              <a:rPr lang="en-US" altLang="zh-CN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, </a:t>
            </a:r>
            <a:r>
              <a:rPr lang="zh-CN" altLang="en-US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雷鸣</a:t>
            </a:r>
            <a:r>
              <a:rPr lang="en-US" altLang="zh-CN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. </a:t>
            </a:r>
            <a:r>
              <a:rPr lang="zh-CN" altLang="en-US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癌</a:t>
            </a:r>
            <a:r>
              <a:rPr lang="en-US" altLang="zh-CN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-</a:t>
            </a:r>
            <a:r>
              <a:rPr lang="zh-CN" altLang="en-US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睾丸抗原</a:t>
            </a:r>
            <a:r>
              <a:rPr lang="en-US" altLang="zh-CN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CT63</a:t>
            </a:r>
            <a:r>
              <a:rPr lang="zh-CN" altLang="en-US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在慢性髓系白血病中的作用及其机制</a:t>
            </a:r>
            <a:r>
              <a:rPr lang="en-US" altLang="zh-CN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[J]. </a:t>
            </a:r>
            <a:r>
              <a:rPr lang="zh-CN" altLang="en-US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上海交通大学学报</a:t>
            </a:r>
            <a:r>
              <a:rPr lang="en-US" altLang="zh-CN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(</a:t>
            </a:r>
            <a:r>
              <a:rPr lang="zh-CN" altLang="en-US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医学版</a:t>
            </a:r>
            <a:r>
              <a:rPr lang="en-US" altLang="zh-CN" sz="18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), 2024, 44(11): 1623-1632.</a:t>
            </a:r>
            <a:endParaRPr lang="en-US" altLang="zh-CN" sz="1800">
              <a:latin typeface="HYZhongKaiJ" panose="02010600000101010101" charset="-122"/>
              <a:ea typeface="HYZhongKaiJ" panose="02010600000101010101" charset="-122"/>
              <a:cs typeface="HYZhongKaiJ" panose="0201060000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24485" y="1514475"/>
            <a:ext cx="314960" cy="440817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>
                <a:latin typeface="Arial" panose="02080604020202020204" pitchFamily="34" charset="0"/>
                <a:ea typeface="微软雅黑" charset="-122"/>
              </a:rPr>
              <a:t>癌</a:t>
            </a:r>
            <a:r>
              <a:rPr lang="en-US" altLang="zh-CN" sz="2800">
                <a:latin typeface="Arial" panose="02080604020202020204" pitchFamily="34" charset="0"/>
                <a:ea typeface="微软雅黑" charset="-122"/>
              </a:rPr>
              <a:t>-</a:t>
            </a:r>
            <a:r>
              <a:rPr lang="zh-CN" altLang="en-US" sz="2800">
                <a:latin typeface="Arial" panose="02080604020202020204" pitchFamily="34" charset="0"/>
                <a:ea typeface="微软雅黑" charset="-122"/>
              </a:rPr>
              <a:t>睾丸抗原</a:t>
            </a:r>
            <a:r>
              <a:rPr lang="en-US" altLang="zh-CN" sz="2800">
                <a:latin typeface="Arial" panose="02080604020202020204" pitchFamily="34" charset="0"/>
                <a:ea typeface="微软雅黑" charset="-122"/>
              </a:rPr>
              <a:t>CT63</a:t>
            </a:r>
            <a:endParaRPr lang="en-US" altLang="zh-CN" sz="2800">
              <a:latin typeface="Arial" panose="02080604020202020204" pitchFamily="34" charset="0"/>
              <a:ea typeface="微软雅黑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65835" y="175895"/>
            <a:ext cx="6908165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800">
                <a:latin typeface="Arial" panose="02080604020202020204" pitchFamily="34" charset="0"/>
                <a:ea typeface="微软雅黑" charset="-122"/>
              </a:rPr>
              <a:t>Q4:CML</a:t>
            </a:r>
            <a:r>
              <a:rPr lang="zh-CN" altLang="en-US" sz="2800">
                <a:latin typeface="Arial" panose="02080604020202020204" pitchFamily="34" charset="0"/>
                <a:ea typeface="微软雅黑" charset="-122"/>
              </a:rPr>
              <a:t>产生幼稚</a:t>
            </a:r>
            <a:r>
              <a:rPr lang="en-US" altLang="zh-CN" sz="2800">
                <a:latin typeface="Arial" panose="02080604020202020204" pitchFamily="34" charset="0"/>
                <a:ea typeface="微软雅黑" charset="-122"/>
              </a:rPr>
              <a:t>WBC</a:t>
            </a:r>
            <a:r>
              <a:rPr lang="zh-CN" altLang="en-US" sz="2800">
                <a:latin typeface="Arial" panose="02080604020202020204" pitchFamily="34" charset="0"/>
                <a:ea typeface="微软雅黑" charset="-122"/>
              </a:rPr>
              <a:t>的机制是什么</a:t>
            </a:r>
            <a:endParaRPr lang="zh-CN" altLang="en-US" sz="2800">
              <a:latin typeface="Arial" panose="02080604020202020204" pitchFamily="34" charset="0"/>
              <a:ea typeface="微软雅黑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66250" y="175895"/>
            <a:ext cx="4064000" cy="5219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>
                <a:latin typeface="Arial" panose="02080604020202020204" pitchFamily="34" charset="0"/>
                <a:ea typeface="微软雅黑" charset="-122"/>
              </a:rPr>
              <a:t>姓名</a:t>
            </a:r>
            <a:r>
              <a:rPr lang="en-US" altLang="zh-CN" sz="2800">
                <a:latin typeface="Arial" panose="02080604020202020204" pitchFamily="34" charset="0"/>
                <a:ea typeface="微软雅黑" charset="-122"/>
              </a:rPr>
              <a:t>:</a:t>
            </a:r>
            <a:r>
              <a:rPr lang="zh-CN" altLang="en-US" sz="2800">
                <a:latin typeface="Arial" panose="02080604020202020204" pitchFamily="34" charset="0"/>
                <a:ea typeface="微软雅黑" charset="-122"/>
              </a:rPr>
              <a:t>戴思如</a:t>
            </a:r>
            <a:endParaRPr lang="zh-CN" altLang="en-US" sz="2800">
              <a:latin typeface="Arial" panose="02080604020202020204" pitchFamily="34" charset="0"/>
              <a:ea typeface="微软雅黑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5665" y="936625"/>
            <a:ext cx="4911090" cy="367601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我们先做了：用慢病毒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shRNA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技术，在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K562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细胞里稳定敲低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CT63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基因，验证成功后得到实验组和对照组。</a:t>
            </a:r>
            <a:endParaRPr lang="zh-CN" altLang="en-US" sz="2000">
              <a:latin typeface="Arial" panose="02080604020202020204" pitchFamily="34" charset="0"/>
              <a:ea typeface="微软雅黑" charset="-122"/>
            </a:endParaRPr>
          </a:p>
          <a:p>
            <a:pPr algn="l"/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细胞实验发现：</a:t>
            </a:r>
            <a:endParaRPr lang="zh-CN" altLang="en-US" sz="2000">
              <a:latin typeface="Arial" panose="02080604020202020204" pitchFamily="34" charset="0"/>
              <a:ea typeface="微软雅黑" charset="-122"/>
            </a:endParaRPr>
          </a:p>
          <a:p>
            <a:pPr algn="l"/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敲低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CT63 → 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细胞增殖变慢、活力下降。</a:t>
            </a:r>
            <a:endParaRPr lang="zh-CN" altLang="en-US" sz="2000">
              <a:latin typeface="Arial" panose="02080604020202020204" pitchFamily="34" charset="0"/>
              <a:ea typeface="微软雅黑" charset="-122"/>
            </a:endParaRPr>
          </a:p>
          <a:p>
            <a:pPr algn="l"/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敲低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CT63 → 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细胞更容易向成熟单核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/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巨噬细胞分化。</a:t>
            </a:r>
            <a:endParaRPr lang="zh-CN" altLang="en-US" sz="2000">
              <a:latin typeface="Arial" panose="02080604020202020204" pitchFamily="34" charset="0"/>
              <a:ea typeface="微软雅黑" charset="-122"/>
            </a:endParaRPr>
          </a:p>
          <a:p>
            <a:pPr algn="l"/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机制上：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CT63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调控了髓系分化通路和线粒体功能。</a:t>
            </a:r>
            <a:endParaRPr lang="zh-CN" altLang="en-US" sz="2000">
              <a:latin typeface="Arial" panose="02080604020202020204" pitchFamily="34" charset="0"/>
              <a:ea typeface="微软雅黑" charset="-122"/>
            </a:endParaRPr>
          </a:p>
          <a:p>
            <a:pPr algn="l"/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动物实验验证：敲低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CT63 → 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肿瘤在裸鼠体内长得更小、更慢，增殖细胞更少。</a:t>
            </a:r>
            <a:endParaRPr lang="zh-CN" altLang="en-US" sz="2000">
              <a:latin typeface="Arial" panose="02080604020202020204" pitchFamily="34" charset="0"/>
              <a:ea typeface="微软雅黑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48780" y="3248660"/>
            <a:ext cx="4662805" cy="334518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分子水平上，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CT63 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通过两条通路发挥促癌作用：</a:t>
            </a:r>
            <a:endParaRPr lang="zh-CN" altLang="en-US" sz="2000">
              <a:latin typeface="Arial" panose="02080604020202020204" pitchFamily="34" charset="0"/>
              <a:ea typeface="微软雅黑" charset="-122"/>
            </a:endParaRPr>
          </a:p>
          <a:p>
            <a:pPr algn="l"/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转录调控通路</a:t>
            </a:r>
            <a:endParaRPr lang="zh-CN" altLang="en-US" sz="2000">
              <a:latin typeface="Arial" panose="02080604020202020204" pitchFamily="34" charset="0"/>
              <a:ea typeface="微软雅黑" charset="-122"/>
            </a:endParaRPr>
          </a:p>
          <a:p>
            <a:pPr algn="l"/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CT63 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抑制髓系分化相关基因（如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 IL7R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、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AXL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、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CD1D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）的转录表达，使白血病细胞保持低分化、高恶性状态。</a:t>
            </a:r>
            <a:endParaRPr lang="zh-CN" altLang="en-US" sz="2000">
              <a:latin typeface="Arial" panose="02080604020202020204" pitchFamily="34" charset="0"/>
              <a:ea typeface="微软雅黑" charset="-122"/>
            </a:endParaRPr>
          </a:p>
          <a:p>
            <a:pPr algn="l"/>
            <a:endParaRPr lang="zh-CN" altLang="en-US" sz="2000">
              <a:latin typeface="Arial" panose="02080604020202020204" pitchFamily="34" charset="0"/>
              <a:ea typeface="微软雅黑" charset="-122"/>
            </a:endParaRPr>
          </a:p>
          <a:p>
            <a:pPr algn="l"/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线粒体能量代谢通路</a:t>
            </a:r>
            <a:endParaRPr lang="zh-CN" altLang="en-US" sz="2000">
              <a:latin typeface="Arial" panose="02080604020202020204" pitchFamily="34" charset="0"/>
              <a:ea typeface="微软雅黑" charset="-122"/>
            </a:endParaRPr>
          </a:p>
          <a:p>
            <a:pPr algn="l"/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CT63 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维持线粒体呼吸链复合物（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COX Ⅳ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）的功能与</a:t>
            </a:r>
            <a:r>
              <a:rPr lang="en-US" altLang="zh-CN" sz="2000">
                <a:latin typeface="Arial" panose="02080604020202020204" pitchFamily="34" charset="0"/>
                <a:ea typeface="微软雅黑" charset="-122"/>
              </a:rPr>
              <a:t> mtDNA </a:t>
            </a:r>
            <a:r>
              <a:rPr lang="zh-CN" altLang="en-US" sz="2000">
                <a:latin typeface="Arial" panose="02080604020202020204" pitchFamily="34" charset="0"/>
                <a:ea typeface="微软雅黑" charset="-122"/>
              </a:rPr>
              <a:t>稳定，保证癌细胞快速增殖所需的能量供应。</a:t>
            </a:r>
            <a:endParaRPr lang="zh-CN" altLang="en-US" sz="2000">
              <a:latin typeface="Arial" panose="02080604020202020204" pitchFamily="34" charset="0"/>
              <a:ea typeface="微软雅黑" charset="-122"/>
            </a:endParaRPr>
          </a:p>
        </p:txBody>
      </p:sp>
      <p:pic>
        <p:nvPicPr>
          <p:cNvPr id="8" name="图片 7" descr="IMG_81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780" y="697865"/>
            <a:ext cx="4836795" cy="24834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15" y="3632200"/>
            <a:ext cx="5760085" cy="24384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5790" y="5507355"/>
            <a:ext cx="5066030" cy="132207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[1] </a:t>
            </a:r>
            <a:r>
              <a:rPr lang="zh-CN" altLang="en-US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孔汝心</a:t>
            </a:r>
            <a:r>
              <a:rPr lang="en-US" altLang="zh-CN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, </a:t>
            </a:r>
            <a:r>
              <a:rPr lang="zh-CN" altLang="en-US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周亚群</a:t>
            </a:r>
            <a:r>
              <a:rPr lang="en-US" altLang="zh-CN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, </a:t>
            </a:r>
            <a:r>
              <a:rPr lang="zh-CN" altLang="en-US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魏婷宜</a:t>
            </a:r>
            <a:r>
              <a:rPr lang="en-US" altLang="zh-CN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, </a:t>
            </a:r>
            <a:r>
              <a:rPr lang="zh-CN" altLang="en-US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雷鸣</a:t>
            </a:r>
            <a:r>
              <a:rPr lang="en-US" altLang="zh-CN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. </a:t>
            </a:r>
            <a:r>
              <a:rPr lang="zh-CN" altLang="en-US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癌</a:t>
            </a:r>
            <a:r>
              <a:rPr lang="en-US" altLang="zh-CN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-</a:t>
            </a:r>
            <a:r>
              <a:rPr lang="zh-CN" altLang="en-US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睾丸抗原</a:t>
            </a:r>
            <a:r>
              <a:rPr lang="en-US" altLang="zh-CN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CT63</a:t>
            </a:r>
            <a:r>
              <a:rPr lang="zh-CN" altLang="en-US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在慢性髓系白血病中的作用及其机制</a:t>
            </a:r>
            <a:r>
              <a:rPr lang="en-US" altLang="zh-CN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[J]. </a:t>
            </a:r>
            <a:r>
              <a:rPr lang="zh-CN" altLang="en-US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上海交通大学学报</a:t>
            </a:r>
            <a:r>
              <a:rPr lang="en-US" altLang="zh-CN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(</a:t>
            </a:r>
            <a:r>
              <a:rPr lang="zh-CN" altLang="en-US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医学版</a:t>
            </a:r>
            <a:r>
              <a:rPr lang="en-US" altLang="zh-CN" sz="2000">
                <a:latin typeface="HYZhongKaiJ" panose="02010600000101010101" charset="-122"/>
                <a:ea typeface="HYZhongKaiJ" panose="02010600000101010101" charset="-122"/>
                <a:cs typeface="HYZhongKaiJ" panose="02010600000101010101" charset="-122"/>
              </a:rPr>
              <a:t>), 2024, 44(11): 1623-1632.</a:t>
            </a:r>
            <a:endParaRPr lang="en-US" altLang="zh-CN" sz="2000">
              <a:latin typeface="HYZhongKaiJ" panose="02010600000101010101" charset="-122"/>
              <a:ea typeface="HYZhongKaiJ" panose="02010600000101010101" charset="-122"/>
              <a:cs typeface="HYZhongKaiJ" panose="0201060000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635</Words>
  <Application>WPS 演示</Application>
  <PresentationFormat>宽屏</PresentationFormat>
  <Paragraphs>34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HarmonyOS Sans</vt:lpstr>
      <vt:lpstr>Wingdings</vt:lpstr>
      <vt:lpstr>FTToken</vt:lpstr>
      <vt:lpstr>微软雅黑</vt:lpstr>
      <vt:lpstr>Noto Sans CJK SC</vt:lpstr>
      <vt:lpstr>Calibri</vt:lpstr>
      <vt:lpstr>书宋-简</vt:lpstr>
      <vt:lpstr>微软雅黑</vt:lpstr>
      <vt:lpstr>HYZhongLiShuJ</vt:lpstr>
      <vt:lpstr>HYZhongKaiJ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WPS_1641028751</dc:creator>
  <cp:lastModifiedBy>WPS_1641028751</cp:lastModifiedBy>
  <cp:revision>161</cp:revision>
  <dcterms:created xsi:type="dcterms:W3CDTF">2026-03-30T08:44:58Z</dcterms:created>
  <dcterms:modified xsi:type="dcterms:W3CDTF">2026-03-30T08:44:58Z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2052-12.9.0.25779</vt:lpwstr>
  </property>
  <property fmtid="{D5CDD505-2E9C-101B-9397-08002B2CF9AE}" pid="3" name="ICV">
    <vt:lpwstr>0582E666E21DBF2E0A38CA69A1E5B20C_43</vt:lpwstr>
  </property>
</Properties>
</file>