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微信图片_20260330220438_890_102"/>
          <p:cNvPicPr>
            <a:picLocks noChangeAspect="1"/>
          </p:cNvPicPr>
          <p:nvPr/>
        </p:nvPicPr>
        <p:blipFill>
          <a:blip r:embed="rId1"/>
          <a:stretch>
            <a:fillRect/>
          </a:stretch>
        </p:blipFill>
        <p:spPr>
          <a:xfrm>
            <a:off x="771525" y="1294130"/>
            <a:ext cx="4428490" cy="4688205"/>
          </a:xfrm>
          <a:prstGeom prst="rect">
            <a:avLst/>
          </a:prstGeom>
        </p:spPr>
      </p:pic>
      <p:pic>
        <p:nvPicPr>
          <p:cNvPr id="5" name="图片 4" descr="微信图片_20260330220440_891_102"/>
          <p:cNvPicPr>
            <a:picLocks noChangeAspect="1"/>
          </p:cNvPicPr>
          <p:nvPr/>
        </p:nvPicPr>
        <p:blipFill>
          <a:blip r:embed="rId2"/>
          <a:srcRect b="3148"/>
          <a:stretch>
            <a:fillRect/>
          </a:stretch>
        </p:blipFill>
        <p:spPr>
          <a:xfrm>
            <a:off x="5755640" y="1114425"/>
            <a:ext cx="5172075" cy="3321050"/>
          </a:xfrm>
          <a:prstGeom prst="rect">
            <a:avLst/>
          </a:prstGeom>
        </p:spPr>
      </p:pic>
      <p:sp>
        <p:nvSpPr>
          <p:cNvPr id="7" name="文本框 6"/>
          <p:cNvSpPr txBox="1"/>
          <p:nvPr/>
        </p:nvSpPr>
        <p:spPr>
          <a:xfrm>
            <a:off x="233045" y="436880"/>
            <a:ext cx="11827510" cy="953135"/>
          </a:xfrm>
          <a:prstGeom prst="rect">
            <a:avLst/>
          </a:prstGeom>
          <a:noFill/>
        </p:spPr>
        <p:txBody>
          <a:bodyPr wrap="square" rtlCol="0">
            <a:spAutoFit/>
          </a:bodyPr>
          <a:p>
            <a:r>
              <a:rPr lang="en-US" altLang="zh-CN" sz="1400"/>
              <a:t>Zhao H, Pomicter AD, Eiring AM, Franzini A, Ahmann J, Hwang JY, Senina A, Helton B, Iyer S, Yan D, Khorashad JS, Zabriskie MS, Agarwal A, Redwine HM, Bowler AD, Clair PM, McWeeney SK, Druker BJ, Tyner JW, Stirewalt DL, Oehler VG, Varambally S, Berrett KC, Vahrenkamp JM, Gertz J, Varley KE, Radich JP, Deininger MW. </a:t>
            </a:r>
            <a:r>
              <a:rPr lang="en-US" altLang="zh-CN" sz="1400">
                <a:highlight>
                  <a:srgbClr val="FFFF00"/>
                </a:highlight>
              </a:rPr>
              <a:t>MS4A3 promotes differentiation in chronic myeloid leukemia by enhancing common β-chain cytokine receptor endocytosis</a:t>
            </a:r>
            <a:r>
              <a:rPr lang="en-US" altLang="zh-CN" sz="1400"/>
              <a:t>. Blood. 2022 Feb 3;139(5):761-778. doi: 10.1182/blood.2021011802. PMID: 34780648; PMCID: PMC8814676.                                             </a:t>
            </a:r>
            <a:r>
              <a:rPr lang="zh-CN" altLang="en-US" sz="1400"/>
              <a:t>分享者姓名</a:t>
            </a:r>
            <a:r>
              <a:rPr lang="en-US" altLang="zh-CN" sz="1400"/>
              <a:t>                      </a:t>
            </a:r>
            <a:r>
              <a:rPr lang="zh-CN" altLang="en-US" sz="1400"/>
              <a:t>仇维健</a:t>
            </a:r>
            <a:endParaRPr lang="zh-CN" altLang="en-US" sz="1400"/>
          </a:p>
        </p:txBody>
      </p:sp>
      <p:sp>
        <p:nvSpPr>
          <p:cNvPr id="8" name="文本框 7"/>
          <p:cNvSpPr txBox="1"/>
          <p:nvPr/>
        </p:nvSpPr>
        <p:spPr>
          <a:xfrm>
            <a:off x="6087110" y="4846955"/>
            <a:ext cx="4047490" cy="645160"/>
          </a:xfrm>
          <a:prstGeom prst="rect">
            <a:avLst/>
          </a:prstGeom>
          <a:noFill/>
        </p:spPr>
        <p:txBody>
          <a:bodyPr wrap="square" rtlCol="0">
            <a:spAutoFit/>
          </a:bodyPr>
          <a:p>
            <a:r>
              <a:rPr lang="zh-CN" altLang="en-US"/>
              <a:t>结论：</a:t>
            </a:r>
            <a:r>
              <a:rPr lang="en-US" altLang="zh-CN"/>
              <a:t>MS4A3</a:t>
            </a:r>
            <a:r>
              <a:rPr lang="zh-CN" altLang="en-US"/>
              <a:t>介导</a:t>
            </a:r>
            <a:r>
              <a:rPr lang="en-US" altLang="zh-CN"/>
              <a:t>GM-CSF/IL-3</a:t>
            </a:r>
            <a:r>
              <a:rPr lang="zh-CN" altLang="en-US"/>
              <a:t>受体内吞并增强下游</a:t>
            </a:r>
            <a:r>
              <a:rPr lang="en-US" altLang="zh-CN"/>
              <a:t>ERK/STAT5</a:t>
            </a:r>
            <a:r>
              <a:rPr lang="zh-CN" altLang="en-US"/>
              <a:t>信号</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微信图片_20260330130511_889_102"/>
          <p:cNvPicPr>
            <a:picLocks noChangeAspect="1"/>
          </p:cNvPicPr>
          <p:nvPr/>
        </p:nvPicPr>
        <p:blipFill>
          <a:blip r:embed="rId1"/>
          <a:stretch>
            <a:fillRect/>
          </a:stretch>
        </p:blipFill>
        <p:spPr>
          <a:xfrm>
            <a:off x="781685" y="318770"/>
            <a:ext cx="10495280" cy="55537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98170" y="300990"/>
            <a:ext cx="10888345" cy="368300"/>
          </a:xfrm>
          <a:prstGeom prst="rect">
            <a:avLst/>
          </a:prstGeom>
          <a:noFill/>
        </p:spPr>
        <p:txBody>
          <a:bodyPr wrap="square" rtlCol="0">
            <a:spAutoFit/>
          </a:bodyPr>
          <a:p>
            <a:r>
              <a:rPr lang="en-US" altLang="zh-CN"/>
              <a:t>Q1</a:t>
            </a:r>
            <a:r>
              <a:rPr lang="zh-CN" altLang="en-US"/>
              <a:t>：胸水穿刺常用的实验室检查指标及意义（</a:t>
            </a:r>
            <a:r>
              <a:rPr lang="en-US" altLang="zh-CN"/>
              <a:t>Rivalta</a:t>
            </a:r>
            <a:r>
              <a:rPr lang="zh-CN" altLang="en-US"/>
              <a:t>实验、</a:t>
            </a:r>
            <a:r>
              <a:rPr lang="en-US" altLang="zh-CN"/>
              <a:t>CEA</a:t>
            </a:r>
            <a:r>
              <a:rPr lang="zh-CN" altLang="en-US"/>
              <a:t>）</a:t>
            </a:r>
            <a:r>
              <a:rPr lang="en-US" altLang="zh-CN"/>
              <a:t>      </a:t>
            </a:r>
            <a:r>
              <a:rPr lang="zh-CN" altLang="en-US"/>
              <a:t>姓名</a:t>
            </a:r>
            <a:r>
              <a:rPr lang="en-US" altLang="zh-CN"/>
              <a:t>   </a:t>
            </a:r>
            <a:r>
              <a:rPr lang="zh-CN" altLang="en-US"/>
              <a:t>仇维健</a:t>
            </a:r>
            <a:endParaRPr lang="zh-CN" altLang="en-US"/>
          </a:p>
        </p:txBody>
      </p:sp>
      <p:pic>
        <p:nvPicPr>
          <p:cNvPr id="5" name="图片 4" descr="957e567773c92c12082b82505378e4da"/>
          <p:cNvPicPr>
            <a:picLocks noChangeAspect="1"/>
          </p:cNvPicPr>
          <p:nvPr/>
        </p:nvPicPr>
        <p:blipFill>
          <a:blip r:embed="rId1"/>
          <a:stretch>
            <a:fillRect/>
          </a:stretch>
        </p:blipFill>
        <p:spPr>
          <a:xfrm>
            <a:off x="836295" y="768350"/>
            <a:ext cx="8089265" cy="5589905"/>
          </a:xfrm>
          <a:prstGeom prst="rect">
            <a:avLst/>
          </a:prstGeom>
        </p:spPr>
      </p:pic>
      <p:sp>
        <p:nvSpPr>
          <p:cNvPr id="7" name="文本框 6"/>
          <p:cNvSpPr txBox="1"/>
          <p:nvPr/>
        </p:nvSpPr>
        <p:spPr>
          <a:xfrm>
            <a:off x="1377950" y="6350000"/>
            <a:ext cx="9728200" cy="368300"/>
          </a:xfrm>
          <a:prstGeom prst="rect">
            <a:avLst/>
          </a:prstGeom>
          <a:noFill/>
        </p:spPr>
        <p:txBody>
          <a:bodyPr wrap="square" rtlCol="0">
            <a:spAutoFit/>
          </a:bodyPr>
          <a:p>
            <a:r>
              <a:rPr lang="zh-CN" altLang="en-US"/>
              <a:t>万学红，卢雪峰，主编</a:t>
            </a:r>
            <a:r>
              <a:rPr lang="en-US" altLang="zh-CN"/>
              <a:t>. </a:t>
            </a:r>
            <a:r>
              <a:rPr lang="zh-CN" altLang="en-US"/>
              <a:t>诊断学</a:t>
            </a:r>
            <a:r>
              <a:rPr lang="en-US" altLang="zh-CN"/>
              <a:t>[M]. 10</a:t>
            </a:r>
            <a:r>
              <a:rPr lang="zh-CN" altLang="en-US"/>
              <a:t>版</a:t>
            </a:r>
            <a:r>
              <a:rPr lang="en-US" altLang="zh-CN"/>
              <a:t>. </a:t>
            </a:r>
            <a:r>
              <a:rPr lang="zh-CN" altLang="en-US"/>
              <a:t>北京</a:t>
            </a:r>
            <a:r>
              <a:rPr lang="en-US" altLang="zh-CN"/>
              <a:t>: </a:t>
            </a:r>
            <a:r>
              <a:rPr lang="zh-CN" altLang="en-US"/>
              <a:t>人民卫生出版社</a:t>
            </a:r>
            <a:r>
              <a:rPr lang="en-US" altLang="zh-CN"/>
              <a:t>, 2024</a:t>
            </a:r>
            <a:r>
              <a:rPr lang="zh-CN" altLang="en-US"/>
              <a:t>：</a:t>
            </a:r>
            <a:r>
              <a:rPr lang="en-US" altLang="zh-CN"/>
              <a:t>315-519</a:t>
            </a:r>
            <a:r>
              <a:rPr lang="zh-CN" altLang="en-US"/>
              <a:t>，</a:t>
            </a:r>
            <a:r>
              <a:rPr lang="en-US" altLang="zh-CN"/>
              <a:t>399.</a:t>
            </a:r>
            <a:endParaRPr lang="en-US" altLang="zh-CN"/>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753</Words>
  <Application>WPS 演示</Application>
  <PresentationFormat>宽屏</PresentationFormat>
  <Paragraphs>8</Paragraphs>
  <Slides>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vt:i4>
      </vt:variant>
    </vt:vector>
  </HeadingPairs>
  <TitlesOfParts>
    <vt:vector size="10" baseType="lpstr">
      <vt:lpstr>Arial</vt:lpstr>
      <vt:lpstr>宋体</vt:lpstr>
      <vt:lpstr>Wingdings</vt:lpstr>
      <vt:lpstr>Arial Unicode MS</vt:lpstr>
      <vt:lpstr>Calibri</vt:lpstr>
      <vt:lpstr>微软雅黑</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仇维健</dc:creator>
  <cp:lastModifiedBy>唯剑独尊</cp:lastModifiedBy>
  <cp:revision>5</cp:revision>
  <dcterms:created xsi:type="dcterms:W3CDTF">2023-08-09T12:44:00Z</dcterms:created>
  <dcterms:modified xsi:type="dcterms:W3CDTF">2026-03-30T14:30:48Z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8D7F834663694B24861C5B9AB3B98E8D_12</vt:lpwstr>
  </property>
</Properties>
</file>