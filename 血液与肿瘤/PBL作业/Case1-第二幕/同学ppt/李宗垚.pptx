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0" y="0"/>
            <a:ext cx="5028565" cy="543560"/>
          </a:xfrm>
        </p:spPr>
        <p:txBody>
          <a:bodyPr>
            <a:normAutofit fontScale="90000"/>
          </a:bodyPr>
          <a:p>
            <a:r>
              <a:rPr lang="en-US" altLang="zh-CN" sz="2000"/>
              <a:t>CML</a:t>
            </a:r>
            <a:r>
              <a:rPr lang="zh-CN" altLang="en-US" sz="2000"/>
              <a:t>产生幼稚</a:t>
            </a:r>
            <a:r>
              <a:rPr lang="en-US" altLang="zh-CN" sz="2000"/>
              <a:t>WBC</a:t>
            </a:r>
            <a:r>
              <a:rPr lang="zh-CN" altLang="en-US" sz="2000"/>
              <a:t>的机制是什么？</a:t>
            </a:r>
            <a:r>
              <a:rPr lang="en-US" altLang="zh-CN" sz="2000"/>
              <a:t>         </a:t>
            </a:r>
            <a:r>
              <a:rPr lang="zh-CN" altLang="en-US" sz="2000"/>
              <a:t>李宗垚</a:t>
            </a:r>
            <a:endParaRPr lang="zh-CN" altLang="en-US" sz="2000"/>
          </a:p>
        </p:txBody>
      </p:sp>
      <p:sp>
        <p:nvSpPr>
          <p:cNvPr id="3" name="副标题 2"/>
          <p:cNvSpPr>
            <a:spLocks noGrp="1"/>
          </p:cNvSpPr>
          <p:nvPr>
            <p:ph type="subTitle" idx="1"/>
          </p:nvPr>
        </p:nvSpPr>
        <p:spPr/>
        <p:txBody>
          <a:bodyPr/>
          <a:p>
            <a:endParaRPr lang="zh-CN" altLang="en-US"/>
          </a:p>
        </p:txBody>
      </p:sp>
      <p:pic>
        <p:nvPicPr>
          <p:cNvPr id="5" name="图片 4"/>
          <p:cNvPicPr>
            <a:picLocks noChangeAspect="1"/>
          </p:cNvPicPr>
          <p:nvPr/>
        </p:nvPicPr>
        <p:blipFill>
          <a:blip r:embed="rId1"/>
          <a:stretch>
            <a:fillRect/>
          </a:stretch>
        </p:blipFill>
        <p:spPr>
          <a:xfrm>
            <a:off x="5183505" y="457200"/>
            <a:ext cx="3412490" cy="3679825"/>
          </a:xfrm>
          <a:prstGeom prst="rect">
            <a:avLst/>
          </a:prstGeom>
        </p:spPr>
      </p:pic>
      <p:pic>
        <p:nvPicPr>
          <p:cNvPr id="6" name="图片 5"/>
          <p:cNvPicPr>
            <a:picLocks noChangeAspect="1"/>
          </p:cNvPicPr>
          <p:nvPr/>
        </p:nvPicPr>
        <p:blipFill>
          <a:blip r:embed="rId2"/>
          <a:stretch>
            <a:fillRect/>
          </a:stretch>
        </p:blipFill>
        <p:spPr>
          <a:xfrm>
            <a:off x="69850" y="457200"/>
            <a:ext cx="4958715" cy="6314440"/>
          </a:xfrm>
          <a:prstGeom prst="rect">
            <a:avLst/>
          </a:prstGeom>
        </p:spPr>
      </p:pic>
      <p:sp>
        <p:nvSpPr>
          <p:cNvPr id="7" name="文本框 6"/>
          <p:cNvSpPr txBox="1"/>
          <p:nvPr/>
        </p:nvSpPr>
        <p:spPr>
          <a:xfrm>
            <a:off x="8851900" y="543560"/>
            <a:ext cx="3002280" cy="2374900"/>
          </a:xfrm>
          <a:prstGeom prst="rect">
            <a:avLst/>
          </a:prstGeom>
          <a:noFill/>
        </p:spPr>
        <p:txBody>
          <a:bodyPr wrap="square" rtlCol="0" anchor="t">
            <a:noAutofit/>
          </a:bodyPr>
          <a:p>
            <a:r>
              <a:rPr lang="en-US" altLang="zh-CN"/>
              <a:t>MS4A3 </a:t>
            </a:r>
            <a:r>
              <a:rPr lang="zh-CN" altLang="en-US"/>
              <a:t>在</a:t>
            </a:r>
            <a:r>
              <a:rPr lang="en-US" altLang="zh-CN"/>
              <a:t> CML CD34</a:t>
            </a:r>
            <a:r>
              <a:rPr lang="en-US" altLang="en-US"/>
              <a:t>⁺</a:t>
            </a:r>
            <a:r>
              <a:rPr lang="en-US" altLang="zh-CN"/>
              <a:t> </a:t>
            </a:r>
            <a:r>
              <a:rPr lang="zh-CN" altLang="en-US"/>
              <a:t>细胞中显著降低，尤其是在急变期和</a:t>
            </a:r>
            <a:r>
              <a:rPr lang="en-US" altLang="zh-CN"/>
              <a:t> TKI </a:t>
            </a:r>
            <a:r>
              <a:rPr lang="zh-CN" altLang="en-US"/>
              <a:t>耐药患者中，且低表达与患者总生存期缩短相关。</a:t>
            </a:r>
            <a:r>
              <a:rPr lang="en-US" altLang="zh-CN"/>
              <a:t>MS4A3 </a:t>
            </a:r>
            <a:r>
              <a:rPr lang="zh-CN" altLang="en-US"/>
              <a:t>通过促进</a:t>
            </a:r>
            <a:r>
              <a:rPr lang="en-US" altLang="zh-CN"/>
              <a:t> βc </a:t>
            </a:r>
            <a:r>
              <a:rPr lang="zh-CN" altLang="en-US"/>
              <a:t>受体内吞与信号传导，驱动</a:t>
            </a:r>
            <a:r>
              <a:rPr lang="en-US" altLang="zh-CN"/>
              <a:t> CML </a:t>
            </a:r>
            <a:r>
              <a:rPr lang="zh-CN" altLang="en-US"/>
              <a:t>细胞髓系分化，维持对</a:t>
            </a:r>
            <a:r>
              <a:rPr lang="en-US" altLang="zh-CN"/>
              <a:t> TKI </a:t>
            </a:r>
            <a:r>
              <a:rPr lang="zh-CN" altLang="en-US"/>
              <a:t>的敏感性。</a:t>
            </a:r>
            <a:endParaRPr lang="zh-CN" altLang="en-US"/>
          </a:p>
        </p:txBody>
      </p:sp>
      <p:sp>
        <p:nvSpPr>
          <p:cNvPr id="8" name="文本框 7"/>
          <p:cNvSpPr txBox="1"/>
          <p:nvPr/>
        </p:nvSpPr>
        <p:spPr>
          <a:xfrm>
            <a:off x="6559550" y="5257800"/>
            <a:ext cx="5511165" cy="1438275"/>
          </a:xfrm>
          <a:prstGeom prst="rect">
            <a:avLst/>
          </a:prstGeom>
          <a:noFill/>
        </p:spPr>
        <p:txBody>
          <a:bodyPr wrap="square" rtlCol="0" anchor="t">
            <a:noAutofit/>
          </a:bodyPr>
          <a:p>
            <a:r>
              <a:rPr lang="en-US" altLang="zh-CN" sz="1000"/>
              <a:t>Citation</a:t>
            </a:r>
            <a:endParaRPr lang="en-US" altLang="zh-CN" sz="1000"/>
          </a:p>
          <a:p>
            <a:r>
              <a:rPr lang="en-US" altLang="zh-CN" sz="1000"/>
              <a:t>Helong Zhao, Anthony D. Pomicter, Anna M. Eiring, Anca Franzini, Jonathan Ahmann, Jae-Yeon Hwang, Anna Senina, Bret Helton, Siddharth Iyer, Dongqing Yan, Jamshid S. Khorashad, Matthew S. Zabriskie, Anupriya Agarwal, Hannah M. Redwine, Amber D. Bowler, Phillip M. Clair, Shannon K. McWeeney, Brian J. Druker, Jeffrey W. Tyner, Derek L. Stirewalt, Vivian G. Oehler, Sooryanarayana Varambally, Kristofer C. Berrett, Jeffery M. Vahrenkamp, Jason Gertz, Katherine E. Varley, Jerald P. Radich, Michael W. Deininger; MS4A3 promotes differentiation in chronic myeloid leukemia by enhancing common β-chain cytokine receptor endocytosis. Blood 2022; 139 (5): 761–778. doi: https://doi.org/10.1182/blood.2021011802</a:t>
            </a:r>
            <a:endParaRPr lang="zh-CN" altLang="en-US" sz="10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852</Words>
  <Application>WPS 演示</Application>
  <PresentationFormat>宽屏</PresentationFormat>
  <Paragraphs>7</Paragraphs>
  <Slides>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Arial</vt:lpstr>
      <vt:lpstr>宋体</vt:lpstr>
      <vt:lpstr>Wingdings</vt:lpstr>
      <vt:lpstr>Calibri</vt:lpstr>
      <vt:lpstr>微软雅黑</vt:lpstr>
      <vt:lpstr>Arial Unicode MS</vt:lpstr>
      <vt:lpstr>WPS</vt:lpstr>
      <vt:lpstr>CML产生幼稚WBC的机制是什么？</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李宗垚</dc:creator>
  <cp:lastModifiedBy>WPS_1709983381</cp:lastModifiedBy>
  <cp:revision>6</cp:revision>
  <dcterms:created xsi:type="dcterms:W3CDTF">2023-08-09T12:44:00Z</dcterms:created>
  <dcterms:modified xsi:type="dcterms:W3CDTF">2026-04-01T07:46:40Z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45A02F0B67E244AF95B3FDAFF9E771DF_12</vt:lpwstr>
  </property>
</Properties>
</file>