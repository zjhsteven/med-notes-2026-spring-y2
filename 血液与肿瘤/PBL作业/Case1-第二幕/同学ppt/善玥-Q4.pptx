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F56"/>
    <a:srgbClr val="BA8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2D897-CD94-4189-B2D6-CF5A5AF22D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14EE2-B794-47CF-8502-39B7F9ABBF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14EE2-B794-47CF-8502-39B7F9ABBF5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1D5F9-8161-4750-BA9C-50706E47DF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E5165-BFEC-4878-A89A-D5B54D1332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17643" y="140761"/>
            <a:ext cx="3030311" cy="543564"/>
            <a:chOff x="2724262" y="1594004"/>
            <a:chExt cx="3030311" cy="543564"/>
          </a:xfrm>
        </p:grpSpPr>
        <p:grpSp>
          <p:nvGrpSpPr>
            <p:cNvPr id="34" name="组合 33"/>
            <p:cNvGrpSpPr/>
            <p:nvPr/>
          </p:nvGrpSpPr>
          <p:grpSpPr>
            <a:xfrm>
              <a:off x="2739033" y="1594004"/>
              <a:ext cx="2765481" cy="543564"/>
              <a:chOff x="1769918" y="2086184"/>
              <a:chExt cx="8652164" cy="2685626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2488767" y="2086184"/>
                <a:ext cx="6556602" cy="2685626"/>
              </a:xfrm>
              <a:prstGeom prst="rect">
                <a:avLst/>
              </a:prstGeom>
              <a:noFill/>
              <a:ln w="19050">
                <a:solidFill>
                  <a:srgbClr val="0F2F5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b="1"/>
              </a:p>
            </p:txBody>
          </p:sp>
          <p:sp useBgFill="1">
            <p:nvSpPr>
              <p:cNvPr id="49" name="矩形 48"/>
              <p:cNvSpPr/>
              <p:nvPr/>
            </p:nvSpPr>
            <p:spPr>
              <a:xfrm>
                <a:off x="1769918" y="2812473"/>
                <a:ext cx="8652164" cy="12330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b="1"/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>
              <a:off x="2724262" y="1668853"/>
              <a:ext cx="3030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latin typeface="华文行楷" panose="02010800040101010101" pitchFamily="2" charset="-122"/>
                  <a:ea typeface="华文行楷" panose="02010800040101010101" pitchFamily="2" charset="-122"/>
                </a:rPr>
                <a:t>天津医科大学</a:t>
              </a:r>
              <a:endPara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pic>
        <p:nvPicPr>
          <p:cNvPr id="50" name="图片 4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76" y="158829"/>
            <a:ext cx="487824" cy="50742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54830" y="257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1820" y="9245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r>
              <a:rPr lang="zh-CN" altLang="en-US"/>
              <a:t>号染色体</a:t>
            </a:r>
            <a:r>
              <a:rPr lang="en-US" altLang="zh-CN"/>
              <a:t>ABL</a:t>
            </a:r>
            <a:r>
              <a:rPr lang="zh-CN" altLang="en-US"/>
              <a:t>基因与</a:t>
            </a:r>
            <a:r>
              <a:rPr lang="en-US" altLang="zh-CN"/>
              <a:t>22</a:t>
            </a:r>
            <a:r>
              <a:rPr lang="zh-CN" altLang="en-US"/>
              <a:t>号染色体</a:t>
            </a:r>
            <a:r>
              <a:rPr lang="en-US" altLang="zh-CN"/>
              <a:t>BCR</a:t>
            </a:r>
            <a:r>
              <a:rPr lang="zh-CN" altLang="en-US"/>
              <a:t>基因相互易位形成的致癌基因</a:t>
            </a:r>
            <a:r>
              <a:rPr lang="en-US" altLang="zh-CN"/>
              <a:t>-</a:t>
            </a:r>
            <a:r>
              <a:rPr lang="zh-CN" altLang="en-US">
                <a:sym typeface="+mn-ea"/>
              </a:rPr>
              <a:t>生成了</a:t>
            </a:r>
            <a:r>
              <a:rPr lang="en-US" altLang="zh-CN">
                <a:sym typeface="+mn-ea"/>
              </a:rPr>
              <a:t>BCR-ABL</a:t>
            </a:r>
            <a:r>
              <a:rPr lang="zh-CN" altLang="en-US">
                <a:sym typeface="+mn-ea"/>
              </a:rPr>
              <a:t>嵌合基因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91820" y="46869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BCR-ABL</a:t>
            </a:r>
            <a:r>
              <a:rPr lang="zh-CN" altLang="en-US"/>
              <a:t>蛋白</a:t>
            </a:r>
            <a:r>
              <a:rPr lang="zh-CN" altLang="en-US">
                <a:sym typeface="+mn-ea"/>
              </a:rPr>
              <a:t>（一个持续活化的酪氨酸激酶，激活多种信号传导途径，使细胞过度增殖而使细胞调控发生紊乱。）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844165" y="262636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RAPSYN</a:t>
            </a:r>
            <a:r>
              <a:rPr lang="zh-CN" altLang="en-US"/>
              <a:t>（突触受体相关蛋白）：</a:t>
            </a:r>
            <a:r>
              <a:rPr lang="en-US" altLang="zh-CN"/>
              <a:t>RAPSYN</a:t>
            </a:r>
            <a:r>
              <a:rPr lang="zh-CN" altLang="en-US"/>
              <a:t>具有</a:t>
            </a:r>
            <a:r>
              <a:rPr lang="en-US" altLang="zh-CN"/>
              <a:t>NEDD8 E3</a:t>
            </a:r>
            <a:r>
              <a:rPr lang="zh-CN" altLang="en-US"/>
              <a:t>连接酶活性，</a:t>
            </a:r>
            <a:r>
              <a:rPr lang="zh-CN" altLang="en-US"/>
              <a:t>介导</a:t>
            </a:r>
            <a:r>
              <a:rPr lang="en-US" altLang="zh-CN"/>
              <a:t>BCR-ABL</a:t>
            </a:r>
            <a:r>
              <a:rPr lang="zh-CN" altLang="en-US"/>
              <a:t>的</a:t>
            </a:r>
            <a:r>
              <a:rPr lang="en-US" altLang="zh-CN"/>
              <a:t>neddy</a:t>
            </a:r>
            <a:r>
              <a:rPr lang="zh-CN" altLang="en-US"/>
              <a:t>化，使其与</a:t>
            </a:r>
            <a:r>
              <a:rPr lang="en-US" altLang="zh-CN"/>
              <a:t>c-CBL</a:t>
            </a:r>
            <a:r>
              <a:rPr lang="zh-CN" altLang="en-US"/>
              <a:t>介导的泛素化降解过程竞争</a:t>
            </a:r>
            <a:r>
              <a:rPr lang="zh-CN" altLang="en-US"/>
              <a:t>，显著提升</a:t>
            </a:r>
            <a:r>
              <a:rPr lang="en-US" altLang="zh-CN"/>
              <a:t>BCR-ABL</a:t>
            </a:r>
            <a:r>
              <a:rPr lang="zh-CN" altLang="en-US"/>
              <a:t>的稳定性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94955" y="264922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SRC</a:t>
            </a:r>
            <a:r>
              <a:rPr lang="zh-CN" altLang="en-US"/>
              <a:t>酶：介导</a:t>
            </a:r>
            <a:r>
              <a:rPr lang="en-US" altLang="zh-CN"/>
              <a:t>RAPSYN</a:t>
            </a:r>
            <a:r>
              <a:rPr lang="zh-CN" altLang="en-US"/>
              <a:t>在</a:t>
            </a:r>
            <a:r>
              <a:rPr lang="en-US" altLang="zh-CN"/>
              <a:t>Y336</a:t>
            </a:r>
            <a:r>
              <a:rPr lang="zh-CN" altLang="en-US"/>
              <a:t>位点发生磷酸化。①抑制</a:t>
            </a:r>
            <a:r>
              <a:rPr lang="en-US" altLang="zh-CN"/>
              <a:t>RAPSYN</a:t>
            </a:r>
            <a:r>
              <a:rPr lang="zh-CN" altLang="en-US"/>
              <a:t>的蛋白酶体降解，</a:t>
            </a:r>
            <a:r>
              <a:rPr lang="zh-CN" altLang="en-US"/>
              <a:t>提升</a:t>
            </a:r>
            <a:r>
              <a:rPr lang="en-US" altLang="zh-CN"/>
              <a:t>RAPSYN</a:t>
            </a:r>
            <a:r>
              <a:rPr lang="zh-CN" altLang="en-US"/>
              <a:t>自身稳定性；②增强其</a:t>
            </a:r>
            <a:r>
              <a:rPr lang="en-US" altLang="zh-CN"/>
              <a:t>NEDD8 E3</a:t>
            </a:r>
            <a:r>
              <a:rPr lang="zh-CN" altLang="en-US"/>
              <a:t>连接酶活性，进一步促进</a:t>
            </a:r>
            <a:r>
              <a:rPr lang="en-US" altLang="zh-CN"/>
              <a:t>BCR-ABL</a:t>
            </a:r>
            <a:r>
              <a:rPr lang="zh-CN" altLang="en-US"/>
              <a:t>的稳定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91820" y="927735"/>
            <a:ext cx="3936365" cy="882650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1820" y="4686935"/>
            <a:ext cx="3980815" cy="964565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756535" y="2649220"/>
            <a:ext cx="4151630" cy="1400810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7807960" y="2649220"/>
            <a:ext cx="3996690" cy="1400810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出自【趣你的PPT】(微信:qunideppt)：最优质的PPT资源库"/>
          <p:cNvCxnSpPr/>
          <p:nvPr>
            <p:custDataLst>
              <p:tags r:id="rId2"/>
            </p:custDataLst>
          </p:nvPr>
        </p:nvCxnSpPr>
        <p:spPr>
          <a:xfrm>
            <a:off x="2444750" y="1839278"/>
            <a:ext cx="6985" cy="2818130"/>
          </a:xfrm>
          <a:prstGeom prst="straightConnector1">
            <a:avLst/>
          </a:prstGeom>
          <a:noFill/>
          <a:ln w="19050">
            <a:solidFill>
              <a:srgbClr val="0F2F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出自【趣你的PPT】(微信:qunideppt)：最优质的PPT资源库"/>
          <p:cNvCxnSpPr/>
          <p:nvPr>
            <p:custDataLst>
              <p:tags r:id="rId3"/>
            </p:custDataLst>
          </p:nvPr>
        </p:nvCxnSpPr>
        <p:spPr>
          <a:xfrm>
            <a:off x="3793490" y="4102418"/>
            <a:ext cx="5715" cy="517525"/>
          </a:xfrm>
          <a:prstGeom prst="straightConnector1">
            <a:avLst/>
          </a:prstGeom>
          <a:noFill/>
          <a:ln w="19050">
            <a:solidFill>
              <a:srgbClr val="0F2F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出自【趣你的PPT】(微信:qunideppt)：最优质的PPT资源库"/>
          <p:cNvCxnSpPr/>
          <p:nvPr>
            <p:custDataLst>
              <p:tags r:id="rId4"/>
            </p:custDataLst>
          </p:nvPr>
        </p:nvCxnSpPr>
        <p:spPr>
          <a:xfrm flipH="1" flipV="1">
            <a:off x="6990715" y="3225483"/>
            <a:ext cx="734695" cy="6350"/>
          </a:xfrm>
          <a:prstGeom prst="straightConnector1">
            <a:avLst/>
          </a:prstGeom>
          <a:noFill/>
          <a:ln w="19050">
            <a:solidFill>
              <a:srgbClr val="0F2F5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208915" y="6148705"/>
            <a:ext cx="11618595" cy="812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[1]Zhao M, Dai B, Li X, Zhang Y, Qiao C, Qin Y, Li Z, Li Q, Wang S, Yang Y, Chen Y. RAPSYN-mediated neddylation of BCR-ABL alternatively determines the fate of Philadelphia chromosome-positive leukemia. Elife. 2024 Jun 12;12:RP88375. doi: 10.7554/eLife.88375. PMID: 38865175; PMCID: PMC11168747.</a:t>
            </a:r>
            <a:endParaRPr lang="en-US" altLang="zh-CN" sz="1000"/>
          </a:p>
          <a:p>
            <a:r>
              <a:rPr lang="en-US" altLang="zh-CN" sz="1000"/>
              <a:t>[2]Jabbour E, Kantarjian H. Chronic myeloid leukemia: 2025 update on diagnosis, therapy, and monitoring. Am J Hematol. 2024 Nov;99(11):2191-2212. doi: 10.1002/ajh.27443. Epub 2024 Aug 2. PMID: 39093014.</a:t>
            </a:r>
            <a:endParaRPr lang="en-US" altLang="zh-CN" sz="1000"/>
          </a:p>
        </p:txBody>
      </p:sp>
      <p:sp>
        <p:nvSpPr>
          <p:cNvPr id="61" name="矩形 60"/>
          <p:cNvSpPr/>
          <p:nvPr/>
        </p:nvSpPr>
        <p:spPr>
          <a:xfrm>
            <a:off x="208915" y="141605"/>
            <a:ext cx="11618595" cy="6564630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2628900" y="250825"/>
            <a:ext cx="4922520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Q4</a:t>
            </a:r>
            <a:r>
              <a:rPr lang="zh-CN" altLang="en-US" sz="1400"/>
              <a:t>：</a:t>
            </a:r>
            <a:r>
              <a:rPr lang="en-US" altLang="zh-CN" sz="1400"/>
              <a:t>CML</a:t>
            </a:r>
            <a:r>
              <a:rPr lang="zh-CN" altLang="en-US" sz="1400"/>
              <a:t>产生幼稚白细胞的机制</a:t>
            </a:r>
            <a:r>
              <a:rPr lang="en-US" altLang="zh-CN" sz="1400"/>
              <a:t>   </a:t>
            </a:r>
            <a:r>
              <a:rPr lang="zh-CN" altLang="en-US" sz="1400"/>
              <a:t>姓名：善玥</a:t>
            </a:r>
            <a:endParaRPr lang="zh-CN" altLang="en-US" sz="1400"/>
          </a:p>
        </p:txBody>
      </p:sp>
      <p:sp>
        <p:nvSpPr>
          <p:cNvPr id="64" name="文本框 63"/>
          <p:cNvSpPr txBox="1"/>
          <p:nvPr/>
        </p:nvSpPr>
        <p:spPr>
          <a:xfrm>
            <a:off x="6705600" y="287655"/>
            <a:ext cx="4286250" cy="577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RAPSYN</a:t>
            </a:r>
            <a:r>
              <a:rPr lang="zh-CN" altLang="en-US"/>
              <a:t>介导的</a:t>
            </a:r>
            <a:r>
              <a:rPr lang="en-US" altLang="zh-CN"/>
              <a:t>BCR-ABL</a:t>
            </a:r>
            <a:r>
              <a:rPr lang="zh-CN" altLang="en-US"/>
              <a:t>尼多基化对费城染色体阳性白血病的影响</a:t>
            </a:r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4801870" y="982345"/>
            <a:ext cx="3745865" cy="1141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22</a:t>
            </a:r>
            <a:r>
              <a:rPr lang="zh-CN" altLang="en-US" sz="1600"/>
              <a:t>号染色体中的这些可变断点产生两种不同的产物，</a:t>
            </a:r>
            <a:r>
              <a:rPr lang="en-US" altLang="zh-CN" sz="1600"/>
              <a:t>e13a2</a:t>
            </a:r>
            <a:r>
              <a:rPr lang="zh-CN" altLang="en-US" sz="1600"/>
              <a:t>（原</a:t>
            </a:r>
            <a:r>
              <a:rPr lang="en-US" altLang="zh-CN" sz="1600"/>
              <a:t>B2a2</a:t>
            </a:r>
            <a:r>
              <a:rPr lang="zh-CN" altLang="en-US" sz="1600"/>
              <a:t>）和</a:t>
            </a:r>
            <a:r>
              <a:rPr lang="en-US" altLang="zh-CN" sz="1600"/>
              <a:t>e14a2</a:t>
            </a:r>
            <a:r>
              <a:rPr lang="zh-CN" altLang="en-US" sz="1600"/>
              <a:t>（原</a:t>
            </a:r>
            <a:r>
              <a:rPr lang="en-US" altLang="zh-CN" sz="1600"/>
              <a:t>B3a2</a:t>
            </a:r>
            <a:r>
              <a:rPr lang="zh-CN" altLang="en-US" sz="1600"/>
              <a:t>）。在</a:t>
            </a:r>
            <a:r>
              <a:rPr lang="en-US" altLang="zh-CN" sz="1600"/>
              <a:t>CML</a:t>
            </a:r>
            <a:r>
              <a:rPr lang="zh-CN" altLang="en-US" sz="1600"/>
              <a:t>中几乎都为</a:t>
            </a:r>
            <a:r>
              <a:rPr lang="en-US" altLang="zh-CN" sz="1600"/>
              <a:t>M-BCR</a:t>
            </a:r>
            <a:r>
              <a:rPr lang="zh-CN" altLang="en-US" sz="1600"/>
              <a:t>位点，而在</a:t>
            </a:r>
            <a:r>
              <a:rPr lang="en-US" altLang="zh-CN" sz="1600"/>
              <a:t>ALL</a:t>
            </a:r>
            <a:r>
              <a:rPr lang="zh-CN" altLang="en-US" sz="1600"/>
              <a:t>中大约</a:t>
            </a:r>
            <a:r>
              <a:rPr lang="en-US" altLang="zh-CN" sz="1600"/>
              <a:t>2/3</a:t>
            </a:r>
            <a:r>
              <a:rPr lang="zh-CN" altLang="en-US" sz="1600"/>
              <a:t>位</a:t>
            </a:r>
            <a:r>
              <a:rPr lang="en-US" altLang="zh-CN" sz="1600"/>
              <a:t>m-BCR</a:t>
            </a:r>
            <a:r>
              <a:rPr lang="zh-CN" altLang="en-US" sz="1600"/>
              <a:t>位点</a:t>
            </a:r>
            <a:endParaRPr lang="zh-CN" altLang="en-US" sz="1600"/>
          </a:p>
        </p:txBody>
      </p:sp>
      <p:sp>
        <p:nvSpPr>
          <p:cNvPr id="66" name="矩形 65"/>
          <p:cNvSpPr/>
          <p:nvPr/>
        </p:nvSpPr>
        <p:spPr>
          <a:xfrm>
            <a:off x="4801870" y="923925"/>
            <a:ext cx="3746500" cy="1199515"/>
          </a:xfrm>
          <a:prstGeom prst="rect">
            <a:avLst/>
          </a:prstGeom>
          <a:noFill/>
          <a:ln w="38100">
            <a:solidFill>
              <a:srgbClr val="0F2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Straight Connector 56"/>
          <p:cNvCxnSpPr/>
          <p:nvPr>
            <p:custDataLst>
              <p:tags r:id="rId5"/>
            </p:custDataLst>
          </p:nvPr>
        </p:nvCxnSpPr>
        <p:spPr>
          <a:xfrm flipH="1" flipV="1">
            <a:off x="4528185" y="1378752"/>
            <a:ext cx="234315" cy="5080"/>
          </a:xfrm>
          <a:prstGeom prst="line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图片 5" descr="屏幕截图 2026-03-30 2125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7160" y="3982085"/>
            <a:ext cx="3784600" cy="2373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000">
        <p159:morph option="byObject"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7.92999999999995,&quot;left&quot;:128.75,&quot;top&quot;:160.83440944881892,&quot;width&quot;:702.1250393700788}"/>
</p:tagLst>
</file>

<file path=ppt/tags/tag2.xml><?xml version="1.0" encoding="utf-8"?>
<p:tagLst xmlns:p="http://schemas.openxmlformats.org/presentationml/2006/main">
  <p:tag name="KSO_WM_DIAGRAM_VIRTUALLY_FRAME" val="{&quot;height&quot;:267.92999999999995,&quot;left&quot;:128.75,&quot;top&quot;:160.83440944881892,&quot;width&quot;:702.1250393700788}"/>
</p:tagLst>
</file>

<file path=ppt/tags/tag3.xml><?xml version="1.0" encoding="utf-8"?>
<p:tagLst xmlns:p="http://schemas.openxmlformats.org/presentationml/2006/main">
  <p:tag name="KSO_WM_DIAGRAM_VIRTUALLY_FRAME" val="{&quot;height&quot;:267.92999999999995,&quot;left&quot;:128.75,&quot;top&quot;:160.83440944881892,&quot;width&quot;:702.1250393700788}"/>
</p:tagLst>
</file>

<file path=ppt/tags/tag4.xml><?xml version="1.0" encoding="utf-8"?>
<p:tagLst xmlns:p="http://schemas.openxmlformats.org/presentationml/2006/main">
  <p:tag name="KSO_WM_DIAGRAM_VIRTUALLY_FRAME" val="{&quot;height&quot;:297.00637795275594,&quot;left&quot;:168.33842519685038,&quot;top&quot;:148.2131496062992,&quot;width&quot;:623.3232283464566}"/>
</p:tagLst>
</file>

<file path=ppt/tags/tag5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WPS 演示</Application>
  <PresentationFormat>宽屏</PresentationFormat>
  <Paragraphs>21</Paragraphs>
  <Slides>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宋体</vt:lpstr>
      <vt:lpstr>Wingdings</vt:lpstr>
      <vt:lpstr>黑体</vt:lpstr>
      <vt:lpstr>等线</vt:lpstr>
      <vt:lpstr>Abadi Extra Light</vt:lpstr>
      <vt:lpstr>Yu Gothic UI Light</vt:lpstr>
      <vt:lpstr>华文行楷</vt:lpstr>
      <vt:lpstr>Calibri</vt:lpstr>
      <vt:lpstr>FZXiDengXian-Z06S</vt:lpstr>
      <vt:lpstr>Yu Gothic UI</vt:lpstr>
      <vt:lpstr>微软雅黑</vt:lpstr>
      <vt:lpstr>Adobe 黑体 Std R</vt:lpstr>
      <vt:lpstr>Helvetica Light</vt:lpstr>
      <vt:lpstr>Arial Unicode MS</vt:lpstr>
      <vt:lpstr>等线 Light</vt:lpstr>
      <vt:lpstr>Times New Roman</vt:lpstr>
      <vt:lpstr>Century Gothic</vt:lpstr>
      <vt:lpstr>Arial</vt:lpstr>
      <vt:lpstr>WPS灵秀黑</vt:lpstr>
      <vt:lpstr>Helvetica LT Pro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 凯</dc:creator>
  <cp:lastModifiedBy>sy</cp:lastModifiedBy>
  <cp:revision>26</cp:revision>
  <dcterms:created xsi:type="dcterms:W3CDTF">2019-05-21T13:20:00Z</dcterms:created>
  <dcterms:modified xsi:type="dcterms:W3CDTF">2026-03-31T09:04:12Z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4500AFFEFB4E412C9FEF0ADE0455A415_13</vt:lpwstr>
  </property>
</Properties>
</file>