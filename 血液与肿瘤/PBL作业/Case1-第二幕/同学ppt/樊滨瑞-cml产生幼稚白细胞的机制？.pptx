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1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l="1437" b="300"/>
          <a:stretch>
            <a:fillRect/>
          </a:stretch>
        </p:blipFill>
        <p:spPr>
          <a:xfrm>
            <a:off x="252730" y="812800"/>
            <a:ext cx="6287135" cy="604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594475" y="571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00B0F0"/>
                </a:solidFill>
              </a:rPr>
              <a:t>1. </a:t>
            </a:r>
            <a:r>
              <a:rPr lang="zh-CN" altLang="en-US">
                <a:solidFill>
                  <a:srgbClr val="00B0F0"/>
                </a:solidFill>
              </a:rPr>
              <a:t>临床发现：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急变期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CML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患者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LSCs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</a:t>
            </a: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miR-142</a:t>
            </a:r>
            <a:r>
              <a:rPr lang="zh-C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显著下调</a:t>
            </a:r>
            <a:endParaRPr lang="zh-C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594475" y="759460"/>
            <a:ext cx="5549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n/>
                <a:solidFill>
                  <a:schemeClr val="accent4"/>
                </a:solidFill>
                <a:effectLst/>
              </a:rPr>
              <a:t>2.</a:t>
            </a:r>
            <a:r>
              <a:rPr lang="zh-CN" altLang="en-US" sz="1600">
                <a:ln/>
                <a:solidFill>
                  <a:schemeClr val="accent4"/>
                </a:solidFill>
                <a:effectLst/>
              </a:rPr>
              <a:t>设置动物模型</a:t>
            </a:r>
            <a:r>
              <a:rPr lang="zh-CN" altLang="en-US" sz="1600">
                <a:ln/>
                <a:solidFill>
                  <a:schemeClr val="accent4"/>
                </a:solidFill>
              </a:rPr>
              <a:t>：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miR-142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敲除足以驱动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CML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变、产生大量幼稚白细胞</a:t>
            </a:r>
            <a:endParaRPr lang="zh-CN" altLang="en-US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594475" y="1274445"/>
            <a:ext cx="4064000" cy="80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miR-142</a:t>
            </a:r>
            <a:r>
              <a:rPr lang="zh-CN" altLang="en-US" sz="1400"/>
              <a:t>敲除的</a:t>
            </a:r>
            <a:r>
              <a:rPr lang="en-US" altLang="zh-CN" sz="1400"/>
              <a:t>BCR-ABL</a:t>
            </a:r>
            <a:r>
              <a:rPr lang="zh-CN" altLang="en-US" sz="1400"/>
              <a:t>小鼠</a:t>
            </a:r>
            <a:r>
              <a:rPr lang="en-US" altLang="zh-CN" sz="1400"/>
              <a:t> </a:t>
            </a:r>
            <a:r>
              <a:rPr lang="zh-CN" altLang="en-US" sz="1400"/>
              <a:t>外周血与骨髓中原始幼稚细胞（幼稚白细胞）急剧累积，并快速进入急变期；野生型则维持慢性期</a:t>
            </a:r>
            <a:r>
              <a:rPr lang="en-US" altLang="zh-CN" sz="1400"/>
              <a:t> </a:t>
            </a:r>
            <a:endParaRPr lang="zh-CN" altLang="en-US" sz="1400"/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728335" y="2649855"/>
            <a:ext cx="546227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LSC</a:t>
            </a:r>
            <a:r>
              <a:rPr lang="zh-CN" altLang="en-US" sz="1600"/>
              <a:t>功能：</a:t>
            </a:r>
            <a:r>
              <a:rPr lang="en-US" altLang="zh-CN" sz="1600"/>
              <a:t>miR-142</a:t>
            </a:r>
            <a:r>
              <a:rPr lang="zh-CN" altLang="en-US" sz="1600"/>
              <a:t>缺失使</a:t>
            </a:r>
            <a:r>
              <a:rPr lang="en-US" altLang="zh-CN" sz="1600"/>
              <a:t>LSC</a:t>
            </a:r>
            <a:r>
              <a:rPr lang="zh-CN" altLang="en-US" sz="1600"/>
              <a:t>获得更强自我更新与异常分化能力</a:t>
            </a:r>
            <a:endParaRPr lang="zh-CN" altLang="en-US" sz="1600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5639435" y="3147060"/>
            <a:ext cx="533971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zh-CN" altLang="en-US" sz="1600"/>
              <a:t>分化阻滞：</a:t>
            </a:r>
            <a:endParaRPr lang="zh-CN" altLang="en-US" sz="1600"/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678930" y="3147060"/>
            <a:ext cx="40214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miR-142</a:t>
            </a:r>
            <a:r>
              <a:rPr lang="zh-CN" altLang="en-US" sz="1400"/>
              <a:t>缺失导致</a:t>
            </a:r>
            <a:r>
              <a:rPr lang="en-US" altLang="zh-CN" sz="1400"/>
              <a:t>LSC </a:t>
            </a:r>
            <a:r>
              <a:rPr lang="zh-CN" altLang="en-US" sz="1400"/>
              <a:t>髓系分化增强、淋巴系分化丧失，大量停滞在</a:t>
            </a:r>
            <a:r>
              <a:rPr lang="en-US" altLang="zh-CN" sz="1400"/>
              <a:t> </a:t>
            </a:r>
            <a:r>
              <a:rPr lang="zh-CN" altLang="en-US" sz="1400"/>
              <a:t>原始粒细胞</a:t>
            </a:r>
            <a:r>
              <a:rPr lang="en-US" altLang="zh-CN" sz="1400"/>
              <a:t>/</a:t>
            </a:r>
            <a:r>
              <a:rPr lang="zh-CN" altLang="en-US" sz="1400"/>
              <a:t>早幼粒阶段（幼稚白细胞），无法成熟，形成急变期特征性的</a:t>
            </a:r>
            <a:r>
              <a:rPr lang="en-US" altLang="zh-CN" sz="1400"/>
              <a:t>“</a:t>
            </a:r>
            <a:r>
              <a:rPr lang="zh-CN" altLang="en-US" sz="1400"/>
              <a:t>原始细胞暴增</a:t>
            </a:r>
            <a:r>
              <a:rPr lang="en-US" altLang="zh-CN" sz="1400"/>
              <a:t>” </a:t>
            </a:r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6539865" y="4453890"/>
            <a:ext cx="4408170" cy="1283970"/>
          </a:xfrm>
          <a:prstGeom prst="rect">
            <a:avLst/>
          </a:prstGeom>
          <a:noFill/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miR-142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在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CML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白血病干细胞中获得性缺失，通过代谢重编程增强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LSC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自我更新并导致髓系分化阻滞，进而产生大量未成熟幼稚白细胞，最终驱动</a:t>
            </a:r>
            <a:r>
              <a:rPr lang="en-US" altLang="zh-CN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CML</a:t>
            </a:r>
            <a:r>
              <a:rPr lang="zh-CN" altLang="en-US"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从慢性期进展为急变期</a:t>
            </a:r>
            <a:endParaRPr lang="zh-CN" altLang="en-US"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804660" y="601980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Zhang B, Zhao D, Chen F, et al. Acquired miR-142 deficit in leukemic stem cells suffices to drive chronic myeloid leukemia into blast crisis. Nat Commun. 2023;14(1):5267. doi: 10.1038/s41467-023-41167-z</a:t>
            </a:r>
            <a:endParaRPr lang="en-US" altLang="zh-CN" sz="1200"/>
          </a:p>
        </p:txBody>
      </p:sp>
      <p:sp>
        <p:nvSpPr>
          <p:cNvPr id="21" name="文本框 20"/>
          <p:cNvSpPr txBox="1"/>
          <p:nvPr/>
        </p:nvSpPr>
        <p:spPr>
          <a:xfrm>
            <a:off x="3771265" y="200025"/>
            <a:ext cx="1670050" cy="278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樊滨瑞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儿科班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8430" y="154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cml</a:t>
            </a:r>
            <a:r>
              <a:rPr lang="zh-CN" altLang="en-US"/>
              <a:t>产生幼稚白细胞的机制？</a:t>
            </a:r>
            <a:endParaRPr lang="en-US" altLang="zh-CN"/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363.25,&quot;left&quot;:506.4,&quot;top&quot;:59.8,&quot;width&quot;:471.85}"/>
</p:tagLst>
</file>

<file path=ppt/tags/tag64.xml><?xml version="1.0" encoding="utf-8"?>
<p:tagLst xmlns:p="http://schemas.openxmlformats.org/presentationml/2006/main">
  <p:tag name="KSO_WM_DIAGRAM_VIRTUALLY_FRAME" val="{&quot;height&quot;:363.25,&quot;left&quot;:506.4,&quot;top&quot;:59.8,&quot;width&quot;:471.85}"/>
</p:tagLst>
</file>

<file path=ppt/tags/tag65.xml><?xml version="1.0" encoding="utf-8"?>
<p:tagLst xmlns:p="http://schemas.openxmlformats.org/presentationml/2006/main">
  <p:tag name="KSO_WM_DIAGRAM_VIRTUALLY_FRAME" val="{&quot;height&quot;:363.25,&quot;left&quot;:506.4,&quot;top&quot;:59.8,&quot;width&quot;:471.85}"/>
</p:tagLst>
</file>

<file path=ppt/tags/tag66.xml><?xml version="1.0" encoding="utf-8"?>
<p:tagLst xmlns:p="http://schemas.openxmlformats.org/presentationml/2006/main">
  <p:tag name="KSO_WM_DIAGRAM_VIRTUALLY_FRAME" val="{&quot;height&quot;:363.25,&quot;left&quot;:506.4,&quot;top&quot;:59.8,&quot;width&quot;:471.85}"/>
</p:tagLst>
</file>

<file path=ppt/tags/tag67.xml><?xml version="1.0" encoding="utf-8"?>
<p:tagLst xmlns:p="http://schemas.openxmlformats.org/presentationml/2006/main">
  <p:tag name="KSO_WM_DIAGRAM_VIRTUALLY_FRAME" val="{&quot;height&quot;:363.25,&quot;left&quot;:506.4,&quot;top&quot;:59.8,&quot;width&quot;:471.85}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华文隶书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乐星</cp:lastModifiedBy>
  <cp:revision>155</cp:revision>
  <dcterms:created xsi:type="dcterms:W3CDTF">2019-06-19T02:08:00Z</dcterms:created>
  <dcterms:modified xsi:type="dcterms:W3CDTF">2026-03-28T12:35:31Z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904C42573E0E4EFAAC7B4891965CBB1A_11</vt:lpwstr>
  </property>
</Properties>
</file>