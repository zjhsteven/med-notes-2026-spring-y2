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5"/>
  </p:notesMasterIdLst>
  <p:sldIdLst>
    <p:sldId id="256" r:id="rId3"/>
    <p:sldId id="257" r:id="rId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06" autoAdjust="0"/>
    <p:restoredTop sz="94660"/>
  </p:normalViewPr>
  <p:slideViewPr>
    <p:cSldViewPr snapToGrid="0">
      <p:cViewPr>
        <p:scale>
          <a:sx n="70" d="100"/>
          <a:sy n="70" d="100"/>
        </p:scale>
        <p:origin x="-149" y="-47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66700" y="152400"/>
            <a:ext cx="99060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nSpc>
                <a:spcPct val="116666"/>
              </a:lnSpc>
              <a:defRPr/>
            </a:pPr>
            <a:r>
              <a:rPr lang="en-US" sz="2400" b="1" i="0" u="none" strike="noStrike" dirty="0" smtClean="0">
                <a:solidFill>
                  <a:srgbClr val="002060"/>
                </a:solidFill>
                <a:latin typeface="微软雅黑"/>
                <a:ea typeface="微软雅黑"/>
                <a:cs typeface="微软雅黑"/>
                <a:sym typeface="微软雅黑"/>
              </a:rPr>
              <a:t>4</a:t>
            </a:r>
            <a:r>
              <a:rPr lang="zh-CN" altLang="en-US" sz="2400" b="1" i="0" u="none" strike="noStrike" dirty="0" smtClean="0">
                <a:solidFill>
                  <a:srgbClr val="002060"/>
                </a:solidFill>
                <a:latin typeface="微软雅黑"/>
                <a:ea typeface="微软雅黑"/>
                <a:cs typeface="微软雅黑"/>
                <a:sym typeface="微软雅黑"/>
              </a:rPr>
              <a:t>：</a:t>
            </a:r>
            <a:r>
              <a:rPr lang="en-US" altLang="zh-CN" sz="2400" b="1" dirty="0" smtClean="0">
                <a:solidFill>
                  <a:srgbClr val="002060"/>
                </a:solidFill>
                <a:latin typeface="微软雅黑"/>
                <a:ea typeface="微软雅黑"/>
                <a:cs typeface="微软雅黑"/>
                <a:sym typeface="微软雅黑"/>
              </a:rPr>
              <a:t>CML</a:t>
            </a:r>
            <a:r>
              <a:rPr lang="zh-CN" altLang="en-US" sz="2400" b="1" dirty="0">
                <a:solidFill>
                  <a:srgbClr val="002060"/>
                </a:solidFill>
                <a:latin typeface="微软雅黑"/>
                <a:ea typeface="微软雅黑"/>
                <a:cs typeface="微软雅黑"/>
                <a:sym typeface="微软雅黑"/>
              </a:rPr>
              <a:t>中幼稚白细胞产生的</a:t>
            </a:r>
            <a:r>
              <a:rPr lang="zh-CN" altLang="en-US" sz="2400" b="1" dirty="0" smtClean="0">
                <a:solidFill>
                  <a:srgbClr val="002060"/>
                </a:solidFill>
                <a:latin typeface="微软雅黑"/>
                <a:ea typeface="微软雅黑"/>
                <a:cs typeface="微软雅黑"/>
                <a:sym typeface="微软雅黑"/>
              </a:rPr>
              <a:t>机制</a:t>
            </a:r>
            <a:endParaRPr lang="en-US" sz="1100" dirty="0"/>
          </a:p>
          <a:p>
            <a:pPr indent="0" algn="l">
              <a:lnSpc>
                <a:spcPct val="116666"/>
              </a:lnSpc>
            </a:pPr>
            <a:r>
              <a:rPr lang="en-US" sz="2400" b="1" i="0" u="none" strike="noStrike" dirty="0" err="1">
                <a:solidFill>
                  <a:srgbClr val="002060"/>
                </a:solidFill>
                <a:latin typeface="Noto Serif SC"/>
                <a:ea typeface="Noto Serif SC"/>
                <a:cs typeface="Noto Serif SC"/>
                <a:sym typeface="Noto Serif SC"/>
              </a:rPr>
              <a:t>乔智</a:t>
            </a:r>
            <a:endParaRPr lang="en-US" sz="2400" b="1" i="0" u="none" strike="noStrike" dirty="0">
              <a:solidFill>
                <a:srgbClr val="002060"/>
              </a:solidFill>
              <a:latin typeface="Noto Serif SC"/>
              <a:ea typeface="Noto Serif SC"/>
              <a:cs typeface="Noto Serif SC"/>
              <a:sym typeface="Noto Serif SC"/>
            </a:endParaRPr>
          </a:p>
        </p:txBody>
      </p:sp>
      <p:sp>
        <p:nvSpPr>
          <p:cNvPr id="3" name="AutoShape 3"/>
          <p:cNvSpPr/>
          <p:nvPr/>
        </p:nvSpPr>
        <p:spPr>
          <a:xfrm>
            <a:off x="266700" y="1549400"/>
            <a:ext cx="7120377" cy="3914693"/>
          </a:xfrm>
          <a:prstGeom prst="roundRect">
            <a:avLst>
              <a:gd name="adj" fmla="val 3244"/>
            </a:avLst>
          </a:prstGeom>
          <a:solidFill>
            <a:srgbClr val="F5F7FA">
              <a:alpha val="100000"/>
            </a:srgbClr>
          </a:solidFill>
          <a:ln w="12700" cap="flat" cmpd="sng">
            <a:solidFill>
              <a:srgbClr val="DEE0E3">
                <a:alpha val="100000"/>
              </a:srgbClr>
            </a:solidFill>
            <a:prstDash val="solid"/>
            <a:round/>
          </a:ln>
        </p:spPr>
        <p:txBody>
          <a:bodyPr vert="horz" wrap="square" lIns="254000" tIns="190500" rIns="254000" bIns="190500" rtlCol="0" anchor="t" anchorCtr="0"/>
          <a:lstStyle/>
          <a:p>
            <a:pPr>
              <a:lnSpc>
                <a:spcPct val="108333"/>
              </a:lnSpc>
              <a:spcBef>
                <a:spcPts val="1000"/>
              </a:spcBef>
            </a:pPr>
            <a:r>
              <a:rPr lang="en-US" altLang="zh-CN" sz="2400" b="1" dirty="0" smtClean="0"/>
              <a:t> BCR-ABL</a:t>
            </a:r>
            <a:r>
              <a:rPr lang="zh-CN" altLang="en-US" sz="2400" b="1" dirty="0"/>
              <a:t>融合基因的作用</a:t>
            </a:r>
            <a:r>
              <a:rPr lang="en-US" sz="2300" b="1" i="0" u="none" strike="noStrike" dirty="0" smtClean="0">
                <a:solidFill>
                  <a:srgbClr val="1F2329"/>
                </a:solidFill>
                <a:latin typeface="Noto Sans SC"/>
                <a:ea typeface="Noto Sans SC"/>
                <a:cs typeface="Noto Sans SC"/>
                <a:sym typeface="Noto Sans SC"/>
              </a:rPr>
              <a:t>：</a:t>
            </a:r>
            <a:r>
              <a:rPr lang="en-US" altLang="zh-CN" sz="2400" dirty="0"/>
              <a:t>CML</a:t>
            </a:r>
            <a:r>
              <a:rPr lang="zh-CN" altLang="en-US" sz="2400" dirty="0"/>
              <a:t>的主要病因是</a:t>
            </a:r>
            <a:r>
              <a:rPr lang="en-US" altLang="zh-CN" sz="2400" dirty="0"/>
              <a:t>9</a:t>
            </a:r>
            <a:r>
              <a:rPr lang="zh-CN" altLang="en-US" sz="2400" dirty="0"/>
              <a:t>号和</a:t>
            </a:r>
            <a:r>
              <a:rPr lang="en-US" altLang="zh-CN" sz="2400" dirty="0"/>
              <a:t>22</a:t>
            </a:r>
            <a:r>
              <a:rPr lang="zh-CN" altLang="en-US" sz="2400" dirty="0"/>
              <a:t>号染色体的易位，形成费城染色体（</a:t>
            </a:r>
            <a:r>
              <a:rPr lang="en-US" altLang="zh-CN" sz="2400" dirty="0" err="1"/>
              <a:t>Ph</a:t>
            </a:r>
            <a:r>
              <a:rPr lang="en-US" altLang="zh-CN" sz="2400" dirty="0"/>
              <a:t>+</a:t>
            </a:r>
            <a:r>
              <a:rPr lang="zh-CN" altLang="en-US" sz="2400" dirty="0"/>
              <a:t>），导致</a:t>
            </a:r>
            <a:r>
              <a:rPr lang="en-US" altLang="zh-CN" sz="2400" dirty="0" smtClean="0"/>
              <a:t>BCR-ABL</a:t>
            </a:r>
            <a:r>
              <a:rPr lang="zh-CN" altLang="en-US" sz="2400" dirty="0"/>
              <a:t>融合基因的产生。该基因编码的</a:t>
            </a:r>
            <a:r>
              <a:rPr lang="en-US" altLang="zh-CN" sz="2400" dirty="0"/>
              <a:t>BCR-ABL</a:t>
            </a:r>
            <a:r>
              <a:rPr lang="zh-CN" altLang="en-US" sz="2400" dirty="0"/>
              <a:t>融合蛋白具有持续激活的酪氨酸</a:t>
            </a:r>
            <a:r>
              <a:rPr lang="zh-CN" altLang="en-US" sz="2400" dirty="0" smtClean="0"/>
              <a:t>激酶活性，可引起造血干细胞和髓系祖细胞中多种信号通路的失调，线粒体内活性氧增多，进而导致细胞异常增殖</a:t>
            </a:r>
            <a:r>
              <a:rPr lang="zh-CN" altLang="en-US" sz="2400" dirty="0"/>
              <a:t>，</a:t>
            </a:r>
            <a:r>
              <a:rPr lang="zh-CN" altLang="en-US" sz="2400" dirty="0" smtClean="0"/>
              <a:t>抑制</a:t>
            </a:r>
            <a:r>
              <a:rPr lang="zh-CN" altLang="en-US" sz="2400" dirty="0"/>
              <a:t>凋亡并阻碍</a:t>
            </a:r>
            <a:r>
              <a:rPr lang="en-US" altLang="zh-CN" sz="2400" dirty="0"/>
              <a:t>DNA</a:t>
            </a:r>
            <a:r>
              <a:rPr lang="zh-CN" altLang="en-US" sz="2400" dirty="0" smtClean="0"/>
              <a:t>修复，即</a:t>
            </a:r>
            <a:r>
              <a:rPr lang="zh-CN" altLang="en-US" sz="2400" b="1" dirty="0" smtClean="0"/>
              <a:t>无法正常发育成熟而呈现幼态</a:t>
            </a:r>
            <a:endParaRPr lang="en-US" sz="2300" b="1" i="0" u="none" strike="noStrike" dirty="0">
              <a:solidFill>
                <a:srgbClr val="1F2329"/>
              </a:solidFill>
              <a:latin typeface="Noto Sans SC"/>
              <a:ea typeface="Noto Sans SC"/>
              <a:cs typeface="Noto Sans SC"/>
              <a:sym typeface="Noto Sans SC"/>
            </a:endParaRPr>
          </a:p>
        </p:txBody>
      </p:sp>
      <p:sp>
        <p:nvSpPr>
          <p:cNvPr id="4" name="AutoShape 4"/>
          <p:cNvSpPr/>
          <p:nvPr/>
        </p:nvSpPr>
        <p:spPr>
          <a:xfrm>
            <a:off x="1502475" y="5967283"/>
            <a:ext cx="9613900" cy="304800"/>
          </a:xfrm>
          <a:prstGeom prst="rect">
            <a:avLst/>
          </a:prstGeom>
          <a:noFill/>
          <a:ln w="12700">
            <a:noFill/>
            <a:prstDash val="solid"/>
          </a:ln>
        </p:spPr>
        <p:txBody>
          <a:bodyPr wrap="square" lIns="0" tIns="0" rIns="0" bIns="0" rtlCol="0" anchor="t"/>
          <a:lstStyle/>
          <a:p>
            <a:pPr>
              <a:lnSpc>
                <a:spcPct val="125000"/>
              </a:lnSpc>
              <a:defRPr/>
            </a:pPr>
            <a:r>
              <a:rPr lang="zh-CN" altLang="en-US" sz="1600" dirty="0">
                <a:solidFill>
                  <a:srgbClr val="1F2329"/>
                </a:solidFill>
                <a:latin typeface="Noto Sans SC"/>
                <a:ea typeface="Noto Sans SC"/>
                <a:cs typeface="Noto Sans SC"/>
                <a:sym typeface="Noto Sans SC"/>
              </a:rPr>
              <a:t>周誉</a:t>
            </a:r>
            <a:r>
              <a:rPr lang="en-US" altLang="zh-CN" sz="1600" dirty="0">
                <a:solidFill>
                  <a:srgbClr val="1F2329"/>
                </a:solidFill>
                <a:latin typeface="Noto Sans SC"/>
                <a:ea typeface="Noto Sans SC"/>
                <a:cs typeface="Noto Sans SC"/>
                <a:sym typeface="Noto Sans SC"/>
              </a:rPr>
              <a:t>, </a:t>
            </a:r>
            <a:r>
              <a:rPr lang="zh-CN" altLang="en-US" sz="1600" dirty="0">
                <a:solidFill>
                  <a:srgbClr val="1F2329"/>
                </a:solidFill>
                <a:latin typeface="Noto Sans SC"/>
                <a:ea typeface="Noto Sans SC"/>
                <a:cs typeface="Noto Sans SC"/>
                <a:sym typeface="Noto Sans SC"/>
              </a:rPr>
              <a:t>李慧</a:t>
            </a:r>
            <a:r>
              <a:rPr lang="en-US" altLang="zh-CN" sz="1600" dirty="0">
                <a:solidFill>
                  <a:srgbClr val="1F2329"/>
                </a:solidFill>
                <a:latin typeface="Noto Sans SC"/>
                <a:ea typeface="Noto Sans SC"/>
                <a:cs typeface="Noto Sans SC"/>
                <a:sym typeface="Noto Sans SC"/>
              </a:rPr>
              <a:t>, </a:t>
            </a:r>
            <a:r>
              <a:rPr lang="zh-CN" altLang="en-US" sz="1600" dirty="0">
                <a:solidFill>
                  <a:srgbClr val="1F2329"/>
                </a:solidFill>
                <a:latin typeface="Noto Sans SC"/>
                <a:ea typeface="Noto Sans SC"/>
                <a:cs typeface="Noto Sans SC"/>
                <a:sym typeface="Noto Sans SC"/>
              </a:rPr>
              <a:t>惠慧</a:t>
            </a:r>
            <a:r>
              <a:rPr lang="en-US" altLang="zh-CN" sz="1600" dirty="0">
                <a:solidFill>
                  <a:srgbClr val="1F2329"/>
                </a:solidFill>
                <a:latin typeface="Noto Sans SC"/>
                <a:ea typeface="Noto Sans SC"/>
                <a:cs typeface="Noto Sans SC"/>
                <a:sym typeface="Noto Sans SC"/>
              </a:rPr>
              <a:t>. </a:t>
            </a:r>
            <a:r>
              <a:rPr lang="zh-CN" altLang="en-US" sz="1600" dirty="0">
                <a:solidFill>
                  <a:srgbClr val="1F2329"/>
                </a:solidFill>
                <a:latin typeface="Noto Sans SC"/>
                <a:ea typeface="Noto Sans SC"/>
                <a:cs typeface="Noto Sans SC"/>
                <a:sym typeface="Noto Sans SC"/>
              </a:rPr>
              <a:t>慢性粒细胞白血病</a:t>
            </a:r>
            <a:r>
              <a:rPr lang="en-US" altLang="zh-CN" sz="1600" dirty="0">
                <a:solidFill>
                  <a:srgbClr val="1F2329"/>
                </a:solidFill>
                <a:latin typeface="Noto Sans SC"/>
                <a:ea typeface="Noto Sans SC"/>
                <a:cs typeface="Noto Sans SC"/>
                <a:sym typeface="Noto Sans SC"/>
              </a:rPr>
              <a:t>(CML)</a:t>
            </a:r>
            <a:r>
              <a:rPr lang="zh-CN" altLang="en-US" sz="1600" dirty="0">
                <a:solidFill>
                  <a:srgbClr val="1F2329"/>
                </a:solidFill>
                <a:latin typeface="Noto Sans SC"/>
                <a:ea typeface="Noto Sans SC"/>
                <a:cs typeface="Noto Sans SC"/>
                <a:sym typeface="Noto Sans SC"/>
              </a:rPr>
              <a:t>治疗新进展</a:t>
            </a:r>
            <a:r>
              <a:rPr lang="en-US" altLang="zh-CN" sz="1600" dirty="0">
                <a:solidFill>
                  <a:srgbClr val="1F2329"/>
                </a:solidFill>
                <a:latin typeface="Noto Sans SC"/>
                <a:ea typeface="Noto Sans SC"/>
                <a:cs typeface="Noto Sans SC"/>
                <a:sym typeface="Noto Sans SC"/>
              </a:rPr>
              <a:t>[J]. </a:t>
            </a:r>
            <a:r>
              <a:rPr lang="zh-CN" altLang="en-US" sz="1600" dirty="0">
                <a:solidFill>
                  <a:srgbClr val="1F2329"/>
                </a:solidFill>
                <a:latin typeface="Noto Sans SC"/>
                <a:ea typeface="Noto Sans SC"/>
                <a:cs typeface="Noto Sans SC"/>
                <a:sym typeface="Noto Sans SC"/>
              </a:rPr>
              <a:t>中国药科大学江苏省肿瘤发生与干预重点实验室</a:t>
            </a:r>
            <a:r>
              <a:rPr lang="en-US" altLang="zh-CN" sz="1600" dirty="0">
                <a:solidFill>
                  <a:srgbClr val="1F2329"/>
                </a:solidFill>
                <a:latin typeface="Noto Sans SC"/>
                <a:ea typeface="Noto Sans SC"/>
                <a:cs typeface="Noto Sans SC"/>
                <a:sym typeface="Noto Sans SC"/>
              </a:rPr>
              <a:t>, 2011, 117(26): 7174-7128</a:t>
            </a:r>
            <a:endParaRPr lang="en-US" sz="1100" dirty="0"/>
          </a:p>
        </p:txBody>
      </p:sp>
      <p:sp>
        <p:nvSpPr>
          <p:cNvPr id="5" name="AutoShape 5"/>
          <p:cNvSpPr/>
          <p:nvPr/>
        </p:nvSpPr>
        <p:spPr>
          <a:xfrm>
            <a:off x="7700325" y="1549400"/>
            <a:ext cx="3657600" cy="3238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000" b="1" i="0" u="none" strike="noStrike" dirty="0" err="1">
                <a:solidFill>
                  <a:srgbClr val="1F2329"/>
                </a:solidFill>
                <a:latin typeface="Noto Sans SC"/>
                <a:ea typeface="Noto Sans SC"/>
                <a:cs typeface="Noto Sans SC"/>
                <a:sym typeface="Noto Sans SC"/>
              </a:rPr>
              <a:t>结论</a:t>
            </a:r>
            <a:r>
              <a:rPr lang="en-US" sz="2000" b="1" i="0" u="none" strike="noStrike" dirty="0">
                <a:solidFill>
                  <a:srgbClr val="1F2329"/>
                </a:solidFill>
                <a:latin typeface="Noto Sans SC"/>
                <a:ea typeface="Noto Sans SC"/>
                <a:cs typeface="Noto Sans SC"/>
                <a:sym typeface="Noto Sans SC"/>
              </a:rPr>
              <a:t>：</a:t>
            </a:r>
            <a:endParaRPr lang="en-US" sz="1100" dirty="0"/>
          </a:p>
          <a:p>
            <a:pPr indent="0" algn="l">
              <a:lnSpc>
                <a:spcPct val="108333"/>
              </a:lnSpc>
            </a:pPr>
            <a:r>
              <a:rPr lang="en-US" sz="1600" b="0" i="0" u="none" strike="noStrike" dirty="0" err="1" smtClean="0">
                <a:solidFill>
                  <a:srgbClr val="1F2329"/>
                </a:solidFill>
                <a:latin typeface="Noto Sans SC"/>
                <a:ea typeface="Noto Sans SC"/>
                <a:cs typeface="Noto Sans SC"/>
                <a:sym typeface="Noto Sans SC"/>
              </a:rPr>
              <a:t>赵阿姨</a:t>
            </a:r>
            <a:r>
              <a:rPr lang="zh-CN" altLang="en-US" sz="1600" b="0" i="0" u="none" strike="noStrike" dirty="0" smtClean="0">
                <a:solidFill>
                  <a:srgbClr val="1F2329"/>
                </a:solidFill>
                <a:latin typeface="Noto Sans SC"/>
                <a:ea typeface="Noto Sans SC"/>
                <a:cs typeface="Noto Sans SC"/>
                <a:sym typeface="Noto Sans SC"/>
              </a:rPr>
              <a:t>的骨髓象检查结果中的幼稚粒细胞明显增多这一结果符合慢性髓系白血病的诊断</a:t>
            </a:r>
            <a:endParaRPr lang="en-US" sz="1600" b="0" i="0" u="none" strike="noStrike" dirty="0">
              <a:solidFill>
                <a:srgbClr val="1F2329"/>
              </a:solidFill>
              <a:latin typeface="Noto Sans SC"/>
              <a:ea typeface="Noto Sans SC"/>
              <a:cs typeface="Noto Sans SC"/>
              <a:sym typeface="Noto Sans SC"/>
            </a:endParaRPr>
          </a:p>
        </p:txBody>
      </p:sp>
      <p:pic>
        <p:nvPicPr>
          <p:cNvPr id="6" name="Picture 6"/>
          <p:cNvPicPr>
            <a:picLocks noChangeAspect="1"/>
          </p:cNvPicPr>
          <p:nvPr/>
        </p:nvPicPr>
        <p:blipFill>
          <a:blip r:embed="rId3"/>
          <a:srcRect/>
          <a:stretch>
            <a:fillRect/>
          </a:stretch>
        </p:blipFill>
        <p:spPr>
          <a:xfrm>
            <a:off x="9529124" y="152400"/>
            <a:ext cx="2494069" cy="546572"/>
          </a:xfrm>
          <a:prstGeom prst="rect">
            <a:avLst/>
          </a:prstGeom>
          <a:solidFill>
            <a:srgbClr val="FF0000">
              <a:alpha val="100000"/>
            </a:srgbClr>
          </a:solidFill>
          <a:ln w="25400" cap="flat" cmpd="sng">
            <a:noFill/>
            <a:prstDash val="solid"/>
            <a:rou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o.quizlet.com/-zU7IJJHl3nFWl-AMk9CwQ.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432" y="590385"/>
            <a:ext cx="9785143" cy="598841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p:cNvSpPr/>
          <p:nvPr/>
        </p:nvSpPr>
        <p:spPr>
          <a:xfrm>
            <a:off x="266700" y="152400"/>
            <a:ext cx="99060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nSpc>
                <a:spcPct val="116666"/>
              </a:lnSpc>
              <a:defRPr/>
            </a:pPr>
            <a:r>
              <a:rPr lang="en-US" altLang="zh-CN" sz="2400" b="1" dirty="0">
                <a:solidFill>
                  <a:srgbClr val="002060"/>
                </a:solidFill>
                <a:latin typeface="微软雅黑"/>
                <a:ea typeface="微软雅黑"/>
                <a:cs typeface="微软雅黑"/>
                <a:sym typeface="微软雅黑"/>
              </a:rPr>
              <a:t>6</a:t>
            </a:r>
            <a:r>
              <a:rPr lang="zh-CN" altLang="en-US" sz="2400" b="1" i="0" u="none" strike="noStrike" dirty="0" smtClean="0">
                <a:solidFill>
                  <a:srgbClr val="002060"/>
                </a:solidFill>
                <a:latin typeface="微软雅黑"/>
                <a:ea typeface="微软雅黑"/>
                <a:cs typeface="微软雅黑"/>
                <a:sym typeface="微软雅黑"/>
              </a:rPr>
              <a:t>：</a:t>
            </a:r>
            <a:r>
              <a:rPr lang="zh-CN" altLang="en-US" sz="2400" b="1" dirty="0" smtClean="0">
                <a:solidFill>
                  <a:srgbClr val="002060"/>
                </a:solidFill>
                <a:latin typeface="微软雅黑"/>
                <a:ea typeface="微软雅黑"/>
                <a:cs typeface="微软雅黑"/>
                <a:sym typeface="微软雅黑"/>
              </a:rPr>
              <a:t>幼稚</a:t>
            </a:r>
            <a:r>
              <a:rPr lang="zh-CN" altLang="en-US" sz="2400" b="1" dirty="0">
                <a:solidFill>
                  <a:srgbClr val="002060"/>
                </a:solidFill>
                <a:latin typeface="微软雅黑"/>
                <a:ea typeface="微软雅黑"/>
                <a:cs typeface="微软雅黑"/>
                <a:sym typeface="微软雅黑"/>
              </a:rPr>
              <a:t>白细胞镜下</a:t>
            </a:r>
            <a:r>
              <a:rPr lang="zh-CN" altLang="en-US" sz="2400" b="1" dirty="0" smtClean="0">
                <a:solidFill>
                  <a:srgbClr val="002060"/>
                </a:solidFill>
                <a:latin typeface="微软雅黑"/>
                <a:ea typeface="微软雅黑"/>
                <a:cs typeface="微软雅黑"/>
                <a:sym typeface="微软雅黑"/>
              </a:rPr>
              <a:t>特征</a:t>
            </a:r>
            <a:endParaRPr lang="en-US" altLang="zh-CN" sz="2400" b="1" dirty="0" smtClean="0">
              <a:solidFill>
                <a:srgbClr val="002060"/>
              </a:solidFill>
              <a:latin typeface="微软雅黑"/>
              <a:ea typeface="微软雅黑"/>
              <a:cs typeface="微软雅黑"/>
              <a:sym typeface="微软雅黑"/>
            </a:endParaRPr>
          </a:p>
          <a:p>
            <a:pPr>
              <a:lnSpc>
                <a:spcPct val="116666"/>
              </a:lnSpc>
              <a:defRPr/>
            </a:pPr>
            <a:r>
              <a:rPr lang="en-US" sz="2400" b="1" i="0" u="none" strike="noStrike" dirty="0" err="1" smtClean="0">
                <a:solidFill>
                  <a:srgbClr val="002060"/>
                </a:solidFill>
                <a:latin typeface="Noto Serif SC"/>
                <a:ea typeface="Noto Serif SC"/>
                <a:cs typeface="Noto Serif SC"/>
                <a:sym typeface="Noto Serif SC"/>
              </a:rPr>
              <a:t>乔智</a:t>
            </a:r>
            <a:endParaRPr lang="en-US" sz="2400" b="1" i="0" u="none" strike="noStrike" dirty="0">
              <a:solidFill>
                <a:srgbClr val="002060"/>
              </a:solidFill>
              <a:latin typeface="Noto Serif SC"/>
              <a:ea typeface="Noto Serif SC"/>
              <a:cs typeface="Noto Serif SC"/>
              <a:sym typeface="Noto Serif SC"/>
            </a:endParaRPr>
          </a:p>
        </p:txBody>
      </p:sp>
      <p:sp>
        <p:nvSpPr>
          <p:cNvPr id="4" name="AutoShape 4"/>
          <p:cNvSpPr/>
          <p:nvPr/>
        </p:nvSpPr>
        <p:spPr>
          <a:xfrm>
            <a:off x="1436007" y="6277819"/>
            <a:ext cx="9613900" cy="304800"/>
          </a:xfrm>
          <a:prstGeom prst="rect">
            <a:avLst/>
          </a:prstGeom>
          <a:noFill/>
          <a:ln w="12700">
            <a:noFill/>
            <a:prstDash val="solid"/>
          </a:ln>
        </p:spPr>
        <p:txBody>
          <a:bodyPr wrap="square" lIns="0" tIns="0" rIns="0" bIns="0" rtlCol="0" anchor="t"/>
          <a:lstStyle/>
          <a:p>
            <a:pPr>
              <a:lnSpc>
                <a:spcPct val="125000"/>
              </a:lnSpc>
              <a:defRPr/>
            </a:pPr>
            <a:r>
              <a:rPr lang="en-US" altLang="zh-CN" sz="1600" dirty="0">
                <a:solidFill>
                  <a:srgbClr val="1F2329"/>
                </a:solidFill>
                <a:latin typeface="Noto Sans SC"/>
                <a:ea typeface="Noto Sans SC"/>
                <a:cs typeface="Noto Sans SC"/>
                <a:sym typeface="Noto Sans SC"/>
              </a:rPr>
              <a:t>https://quizlet.com/628999759/hematology-lab-exam-2-4-7-flash-cards/</a:t>
            </a:r>
            <a:endParaRPr lang="en-US" sz="1100" dirty="0"/>
          </a:p>
        </p:txBody>
      </p:sp>
      <p:sp>
        <p:nvSpPr>
          <p:cNvPr id="5" name="AutoShape 5"/>
          <p:cNvSpPr/>
          <p:nvPr/>
        </p:nvSpPr>
        <p:spPr>
          <a:xfrm>
            <a:off x="7700325" y="1549400"/>
            <a:ext cx="3657600" cy="3238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endParaRPr lang="en-US" sz="1600" b="0" i="0" u="none" strike="noStrike" dirty="0">
              <a:solidFill>
                <a:srgbClr val="1F2329"/>
              </a:solidFill>
              <a:latin typeface="Noto Sans SC"/>
              <a:ea typeface="Noto Sans SC"/>
              <a:cs typeface="Noto Sans SC"/>
              <a:sym typeface="Noto Sans SC"/>
            </a:endParaRPr>
          </a:p>
        </p:txBody>
      </p:sp>
      <p:pic>
        <p:nvPicPr>
          <p:cNvPr id="1027" name="Picture 3" descr="C:\Users\diannao\Desktop\downloaded-im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6007" y="0"/>
            <a:ext cx="9145229" cy="685549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4192032" y="6421667"/>
            <a:ext cx="4101850" cy="307777"/>
          </a:xfrm>
          <a:prstGeom prst="rect">
            <a:avLst/>
          </a:prstGeom>
          <a:noFill/>
        </p:spPr>
        <p:txBody>
          <a:bodyPr wrap="square" rtlCol="0">
            <a:spAutoFit/>
          </a:bodyPr>
          <a:lstStyle/>
          <a:p>
            <a:r>
              <a:rPr lang="en-US" altLang="zh-CN" dirty="0"/>
              <a:t>[1] </a:t>
            </a:r>
            <a:r>
              <a:rPr lang="zh-CN" altLang="en-US" dirty="0"/>
              <a:t>百度百科。粒细胞 </a:t>
            </a:r>
            <a:r>
              <a:rPr lang="en-US" altLang="zh-CN" dirty="0"/>
              <a:t>[EB/OL]. [2026-03-29]</a:t>
            </a:r>
            <a:endParaRPr lang="zh-CN" altLang="en-US" dirty="0"/>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799" y="139225"/>
            <a:ext cx="6321291" cy="6577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图片 15"/>
          <p:cNvPicPr/>
          <p:nvPr/>
        </p:nvPicPr>
        <p:blipFill>
          <a:blip r:embed="rId6"/>
          <a:srcRect/>
          <a:stretch>
            <a:fillRect/>
          </a:stretch>
        </p:blipFill>
        <p:spPr>
          <a:xfrm>
            <a:off x="1915886" y="-13174"/>
            <a:ext cx="8654142" cy="6729443"/>
          </a:xfrm>
          <a:prstGeom prst="rect">
            <a:avLst/>
          </a:prstGeom>
          <a:noFill/>
          <a:ln w="9525">
            <a:noFill/>
            <a:miter lim="800000"/>
            <a:headEnd/>
            <a:tailEnd/>
          </a:ln>
        </p:spPr>
      </p:pic>
    </p:spTree>
    <p:extLst>
      <p:ext uri="{BB962C8B-B14F-4D97-AF65-F5344CB8AC3E}">
        <p14:creationId xmlns:p14="http://schemas.microsoft.com/office/powerpoint/2010/main" val="355783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026"/>
                                        </p:tgtEl>
                                        <p:attrNameLst>
                                          <p:attrName>ppt_x</p:attrName>
                                        </p:attrNameLst>
                                      </p:cBhvr>
                                      <p:tavLst>
                                        <p:tav tm="0">
                                          <p:val>
                                            <p:strVal val="ppt_x"/>
                                          </p:val>
                                        </p:tav>
                                        <p:tav tm="100000">
                                          <p:val>
                                            <p:strVal val="ppt_x"/>
                                          </p:val>
                                        </p:tav>
                                      </p:tavLst>
                                    </p:anim>
                                    <p:anim calcmode="lin" valueType="num">
                                      <p:cBhvr additive="base">
                                        <p:cTn id="7" dur="500"/>
                                        <p:tgtEl>
                                          <p:spTgt spid="1026"/>
                                        </p:tgtEl>
                                        <p:attrNameLst>
                                          <p:attrName>ppt_y</p:attrName>
                                        </p:attrNameLst>
                                      </p:cBhvr>
                                      <p:tavLst>
                                        <p:tav tm="0">
                                          <p:val>
                                            <p:strVal val="ppt_y"/>
                                          </p:val>
                                        </p:tav>
                                        <p:tav tm="100000">
                                          <p:val>
                                            <p:strVal val="1+ppt_h/2"/>
                                          </p:val>
                                        </p:tav>
                                      </p:tavLst>
                                    </p:anim>
                                    <p:set>
                                      <p:cBhvr>
                                        <p:cTn id="8" dur="1" fill="hold">
                                          <p:stCondLst>
                                            <p:cond delay="499"/>
                                          </p:stCondLst>
                                        </p:cTn>
                                        <p:tgtEl>
                                          <p:spTgt spid="1026"/>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4"/>
                                        </p:tgtEl>
                                        <p:attrNameLst>
                                          <p:attrName>ppt_x</p:attrName>
                                        </p:attrNameLst>
                                      </p:cBhvr>
                                      <p:tavLst>
                                        <p:tav tm="0">
                                          <p:val>
                                            <p:strVal val="ppt_x"/>
                                          </p:val>
                                        </p:tav>
                                        <p:tav tm="100000">
                                          <p:val>
                                            <p:strVal val="ppt_x"/>
                                          </p:val>
                                        </p:tav>
                                      </p:tavLst>
                                    </p:anim>
                                    <p:anim calcmode="lin" valueType="num">
                                      <p:cBhvr additive="base">
                                        <p:cTn id="11" dur="500"/>
                                        <p:tgtEl>
                                          <p:spTgt spid="4"/>
                                        </p:tgtEl>
                                        <p:attrNameLst>
                                          <p:attrName>ppt_y</p:attrName>
                                        </p:attrNameLst>
                                      </p:cBhvr>
                                      <p:tavLst>
                                        <p:tav tm="0">
                                          <p:val>
                                            <p:strVal val="ppt_y"/>
                                          </p:val>
                                        </p:tav>
                                        <p:tav tm="100000">
                                          <p:val>
                                            <p:strVal val="1+ppt_h/2"/>
                                          </p:val>
                                        </p:tav>
                                      </p:tavLst>
                                    </p:anim>
                                    <p:set>
                                      <p:cBhvr>
                                        <p:cTn id="12" dur="1" fill="hold">
                                          <p:stCondLst>
                                            <p:cond delay="499"/>
                                          </p:stCondLst>
                                        </p:cTn>
                                        <p:tgtEl>
                                          <p:spTgt spid="4"/>
                                        </p:tgtEl>
                                        <p:attrNameLst>
                                          <p:attrName>style.visibility</p:attrName>
                                        </p:attrNameLst>
                                      </p:cBhvr>
                                      <p:to>
                                        <p:strVal val="hidden"/>
                                      </p:to>
                                    </p:set>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1027"/>
                                        </p:tgtEl>
                                        <p:attrNameLst>
                                          <p:attrName>style.visibility</p:attrName>
                                        </p:attrNameLst>
                                      </p:cBhvr>
                                      <p:to>
                                        <p:strVal val="visible"/>
                                      </p:to>
                                    </p:set>
                                    <p:anim calcmode="lin" valueType="num">
                                      <p:cBhvr additive="base">
                                        <p:cTn id="16" dur="500" fill="hold"/>
                                        <p:tgtEl>
                                          <p:spTgt spid="1027"/>
                                        </p:tgtEl>
                                        <p:attrNameLst>
                                          <p:attrName>ppt_x</p:attrName>
                                        </p:attrNameLst>
                                      </p:cBhvr>
                                      <p:tavLst>
                                        <p:tav tm="0">
                                          <p:val>
                                            <p:strVal val="#ppt_x"/>
                                          </p:val>
                                        </p:tav>
                                        <p:tav tm="100000">
                                          <p:val>
                                            <p:strVal val="#ppt_x"/>
                                          </p:val>
                                        </p:tav>
                                      </p:tavLst>
                                    </p:anim>
                                    <p:anim calcmode="lin" valueType="num">
                                      <p:cBhvr additive="base">
                                        <p:cTn id="17" dur="500" fill="hold"/>
                                        <p:tgtEl>
                                          <p:spTgt spid="1027"/>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xit" presetSubtype="4" fill="hold" nodeType="clickEffect">
                                  <p:stCondLst>
                                    <p:cond delay="0"/>
                                  </p:stCondLst>
                                  <p:childTnLst>
                                    <p:anim calcmode="lin" valueType="num">
                                      <p:cBhvr additive="base">
                                        <p:cTn id="25" dur="500"/>
                                        <p:tgtEl>
                                          <p:spTgt spid="1027"/>
                                        </p:tgtEl>
                                        <p:attrNameLst>
                                          <p:attrName>ppt_x</p:attrName>
                                        </p:attrNameLst>
                                      </p:cBhvr>
                                      <p:tavLst>
                                        <p:tav tm="0">
                                          <p:val>
                                            <p:strVal val="ppt_x"/>
                                          </p:val>
                                        </p:tav>
                                        <p:tav tm="100000">
                                          <p:val>
                                            <p:strVal val="ppt_x"/>
                                          </p:val>
                                        </p:tav>
                                      </p:tavLst>
                                    </p:anim>
                                    <p:anim calcmode="lin" valueType="num">
                                      <p:cBhvr additive="base">
                                        <p:cTn id="26" dur="500"/>
                                        <p:tgtEl>
                                          <p:spTgt spid="1027"/>
                                        </p:tgtEl>
                                        <p:attrNameLst>
                                          <p:attrName>ppt_y</p:attrName>
                                        </p:attrNameLst>
                                      </p:cBhvr>
                                      <p:tavLst>
                                        <p:tav tm="0">
                                          <p:val>
                                            <p:strVal val="ppt_y"/>
                                          </p:val>
                                        </p:tav>
                                        <p:tav tm="100000">
                                          <p:val>
                                            <p:strVal val="1+ppt_h/2"/>
                                          </p:val>
                                        </p:tav>
                                      </p:tavLst>
                                    </p:anim>
                                    <p:set>
                                      <p:cBhvr>
                                        <p:cTn id="27" dur="1" fill="hold">
                                          <p:stCondLst>
                                            <p:cond delay="499"/>
                                          </p:stCondLst>
                                        </p:cTn>
                                        <p:tgtEl>
                                          <p:spTgt spid="1027"/>
                                        </p:tgtEl>
                                        <p:attrNameLst>
                                          <p:attrName>style.visibility</p:attrName>
                                        </p:attrNameLst>
                                      </p:cBhvr>
                                      <p:to>
                                        <p:strVal val="hidden"/>
                                      </p:to>
                                    </p:set>
                                  </p:childTnLst>
                                </p:cTn>
                              </p:par>
                              <p:par>
                                <p:cTn id="28" presetID="2" presetClass="exit" presetSubtype="4" fill="hold" grpId="1" nodeType="withEffect">
                                  <p:stCondLst>
                                    <p:cond delay="0"/>
                                  </p:stCondLst>
                                  <p:childTnLst>
                                    <p:anim calcmode="lin" valueType="num">
                                      <p:cBhvr additive="base">
                                        <p:cTn id="29" dur="500"/>
                                        <p:tgtEl>
                                          <p:spTgt spid="8"/>
                                        </p:tgtEl>
                                        <p:attrNameLst>
                                          <p:attrName>ppt_x</p:attrName>
                                        </p:attrNameLst>
                                      </p:cBhvr>
                                      <p:tavLst>
                                        <p:tav tm="0">
                                          <p:val>
                                            <p:strVal val="ppt_x"/>
                                          </p:val>
                                        </p:tav>
                                        <p:tav tm="100000">
                                          <p:val>
                                            <p:strVal val="ppt_x"/>
                                          </p:val>
                                        </p:tav>
                                      </p:tavLst>
                                    </p:anim>
                                    <p:anim calcmode="lin" valueType="num">
                                      <p:cBhvr additive="base">
                                        <p:cTn id="30" dur="500"/>
                                        <p:tgtEl>
                                          <p:spTgt spid="8"/>
                                        </p:tgtEl>
                                        <p:attrNameLst>
                                          <p:attrName>ppt_y</p:attrName>
                                        </p:attrNameLst>
                                      </p:cBhvr>
                                      <p:tavLst>
                                        <p:tav tm="0">
                                          <p:val>
                                            <p:strVal val="ppt_y"/>
                                          </p:val>
                                        </p:tav>
                                        <p:tav tm="100000">
                                          <p:val>
                                            <p:strVal val="1+ppt_h/2"/>
                                          </p:val>
                                        </p:tav>
                                      </p:tavLst>
                                    </p:anim>
                                    <p:set>
                                      <p:cBhvr>
                                        <p:cTn id="31" dur="1" fill="hold">
                                          <p:stCondLst>
                                            <p:cond delay="499"/>
                                          </p:stCondLst>
                                        </p:cTn>
                                        <p:tgtEl>
                                          <p:spTgt spid="8"/>
                                        </p:tgtEl>
                                        <p:attrNameLst>
                                          <p:attrName>style.visibility</p:attrName>
                                        </p:attrNameLst>
                                      </p:cBhvr>
                                      <p:to>
                                        <p:strVal val="hidden"/>
                                      </p:to>
                                    </p:set>
                                  </p:childTnLst>
                                </p:cTn>
                              </p:par>
                            </p:childTnLst>
                          </p:cTn>
                        </p:par>
                        <p:par>
                          <p:cTn id="32" fill="hold">
                            <p:stCondLst>
                              <p:cond delay="500"/>
                            </p:stCondLst>
                            <p:childTnLst>
                              <p:par>
                                <p:cTn id="33" presetID="2" presetClass="entr" presetSubtype="4" fill="hold" nodeType="afterEffect">
                                  <p:stCondLst>
                                    <p:cond delay="0"/>
                                  </p:stCondLst>
                                  <p:childTnLst>
                                    <p:set>
                                      <p:cBhvr>
                                        <p:cTn id="34" dur="1" fill="hold">
                                          <p:stCondLst>
                                            <p:cond delay="0"/>
                                          </p:stCondLst>
                                        </p:cTn>
                                        <p:tgtEl>
                                          <p:spTgt spid="1028"/>
                                        </p:tgtEl>
                                        <p:attrNameLst>
                                          <p:attrName>style.visibility</p:attrName>
                                        </p:attrNameLst>
                                      </p:cBhvr>
                                      <p:to>
                                        <p:strVal val="visible"/>
                                      </p:to>
                                    </p:set>
                                    <p:anim calcmode="lin" valueType="num">
                                      <p:cBhvr additive="base">
                                        <p:cTn id="35" dur="500" fill="hold"/>
                                        <p:tgtEl>
                                          <p:spTgt spid="1028"/>
                                        </p:tgtEl>
                                        <p:attrNameLst>
                                          <p:attrName>ppt_x</p:attrName>
                                        </p:attrNameLst>
                                      </p:cBhvr>
                                      <p:tavLst>
                                        <p:tav tm="0">
                                          <p:val>
                                            <p:strVal val="#ppt_x"/>
                                          </p:val>
                                        </p:tav>
                                        <p:tav tm="100000">
                                          <p:val>
                                            <p:strVal val="#ppt_x"/>
                                          </p:val>
                                        </p:tav>
                                      </p:tavLst>
                                    </p:anim>
                                    <p:anim calcmode="lin" valueType="num">
                                      <p:cBhvr additive="base">
                                        <p:cTn id="36"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nodeType="clickEffect">
                                  <p:stCondLst>
                                    <p:cond delay="0"/>
                                  </p:stCondLst>
                                  <p:childTnLst>
                                    <p:anim calcmode="lin" valueType="num">
                                      <p:cBhvr additive="base">
                                        <p:cTn id="40" dur="500"/>
                                        <p:tgtEl>
                                          <p:spTgt spid="1028"/>
                                        </p:tgtEl>
                                        <p:attrNameLst>
                                          <p:attrName>ppt_x</p:attrName>
                                        </p:attrNameLst>
                                      </p:cBhvr>
                                      <p:tavLst>
                                        <p:tav tm="0">
                                          <p:val>
                                            <p:strVal val="ppt_x"/>
                                          </p:val>
                                        </p:tav>
                                        <p:tav tm="100000">
                                          <p:val>
                                            <p:strVal val="ppt_x"/>
                                          </p:val>
                                        </p:tav>
                                      </p:tavLst>
                                    </p:anim>
                                    <p:anim calcmode="lin" valueType="num">
                                      <p:cBhvr additive="base">
                                        <p:cTn id="41" dur="500"/>
                                        <p:tgtEl>
                                          <p:spTgt spid="1028"/>
                                        </p:tgtEl>
                                        <p:attrNameLst>
                                          <p:attrName>ppt_y</p:attrName>
                                        </p:attrNameLst>
                                      </p:cBhvr>
                                      <p:tavLst>
                                        <p:tav tm="0">
                                          <p:val>
                                            <p:strVal val="ppt_y"/>
                                          </p:val>
                                        </p:tav>
                                        <p:tav tm="100000">
                                          <p:val>
                                            <p:strVal val="1+ppt_h/2"/>
                                          </p:val>
                                        </p:tav>
                                      </p:tavLst>
                                    </p:anim>
                                    <p:set>
                                      <p:cBhvr>
                                        <p:cTn id="42" dur="1" fill="hold">
                                          <p:stCondLst>
                                            <p:cond delay="499"/>
                                          </p:stCondLst>
                                        </p:cTn>
                                        <p:tgtEl>
                                          <p:spTgt spid="1028"/>
                                        </p:tgtEl>
                                        <p:attrNameLst>
                                          <p:attrName>style.visibility</p:attrName>
                                        </p:attrNameLst>
                                      </p:cBhvr>
                                      <p:to>
                                        <p:strVal val="hidden"/>
                                      </p:to>
                                    </p:set>
                                  </p:childTnLst>
                                </p:cTn>
                              </p:par>
                            </p:childTnLst>
                          </p:cTn>
                        </p:par>
                        <p:par>
                          <p:cTn id="43" fill="hold">
                            <p:stCondLst>
                              <p:cond delay="500"/>
                            </p:stCondLst>
                            <p:childTnLst>
                              <p:par>
                                <p:cTn id="44" presetID="2" presetClass="entr" presetSubtype="4"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ppt_x"/>
                                          </p:val>
                                        </p:tav>
                                        <p:tav tm="100000">
                                          <p:val>
                                            <p:strVal val="#ppt_x"/>
                                          </p:val>
                                        </p:tav>
                                      </p:tavLst>
                                    </p:anim>
                                    <p:anim calcmode="lin" valueType="num">
                                      <p:cBhvr additive="base">
                                        <p:cTn id="4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8" grpId="1"/>
    </p:bldLst>
  </p:timing>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189</Words>
  <Application>Microsoft Office PowerPoint</Application>
  <PresentationFormat>自定义</PresentationFormat>
  <Paragraphs>14</Paragraphs>
  <Slides>2</Slides>
  <Notes>2</Notes>
  <HiddenSlides>0</HiddenSlides>
  <MMClips>0</MMClips>
  <ScaleCrop>false</ScaleCrop>
  <HeadingPairs>
    <vt:vector size="4" baseType="variant">
      <vt:variant>
        <vt:lpstr>主题</vt:lpstr>
      </vt:variant>
      <vt:variant>
        <vt:i4>2</vt:i4>
      </vt:variant>
      <vt:variant>
        <vt:lpstr>幻灯片标题</vt:lpstr>
      </vt:variant>
      <vt:variant>
        <vt:i4>2</vt:i4>
      </vt:variant>
    </vt:vector>
  </HeadingPairs>
  <TitlesOfParts>
    <vt:vector size="4" baseType="lpstr">
      <vt:lpstr>Office 主题​​</vt:lpstr>
      <vt:lpstr>默认主题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diannao</cp:lastModifiedBy>
  <cp:revision>13</cp:revision>
  <dcterms:modified xsi:type="dcterms:W3CDTF">2026-03-30T14:52:03Z</dcterms:modified>
</cp:coreProperties>
</file>