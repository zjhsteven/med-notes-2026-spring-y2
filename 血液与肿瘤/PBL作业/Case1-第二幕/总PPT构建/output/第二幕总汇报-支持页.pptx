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" y="960120"/>
            <a:ext cx="10588752" cy="5074920"/>
          </a:xfrm>
          <a:prstGeom prst="roundRect">
            <a:avLst>
              <a:gd name="adj" fmla="val 1081"/>
            </a:avLst>
          </a:prstGeom>
          <a:solidFill>
            <a:srgbClr val="FFFFFF"/>
          </a:solidFill>
          <a:ln w="13970">
            <a:solidFill>
              <a:srgbClr val="DCE6F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234440" y="1572768"/>
            <a:ext cx="9692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PBL Case 1 第二幕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88920" y="2468880"/>
            <a:ext cx="6583680" cy="0"/>
          </a:xfrm>
          <a:prstGeom prst="line">
            <a:avLst/>
          </a:prstGeom>
          <a:noFill/>
          <a:ln w="16510">
            <a:solidFill>
              <a:srgbClr val="BFDB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4440" y="278892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汇报成员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78992" y="3273552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张家赫  ·  戴思如  ·  樊滨瑞  ·  李宗垚  ·  乔智  ·  善玥  ·  王语萱  ·  叶潇潇  ·  钟琬毓  ·  仇维健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34440" y="477316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血液与肿瘤课程 PBL 汇报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1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105613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828800"/>
            <a:ext cx="1417320" cy="82296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29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1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1810512"/>
            <a:ext cx="7726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诊断性胸腔穿刺后常做哪些实验室检查？赵阿姨现有胸水结果说明了什么？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1 标题页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2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105613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828800"/>
            <a:ext cx="1417320" cy="82296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29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2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1810512"/>
            <a:ext cx="7726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白血病如何分类？CML 在白血病与骨髓增殖性肿瘤谱系中处于什么位置？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2 标题页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ZJHSteven\Desktop\大二下笔记\output\playwright\PPT-问题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4516"/>
            <a:ext cx="12191695" cy="443484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6510528"/>
            <a:ext cx="6995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来源：《内科学》第10版 九章白血病；Li W. WHO 5th Ed Classification. Leukemia, 2022.</a:t>
            </a:r>
            <a:endParaRPr lang="en-US" sz="820" dirty="0"/>
          </a:p>
        </p:txBody>
      </p:sp>
      <p:sp>
        <p:nvSpPr>
          <p:cNvPr id="5" name="Text 2"/>
          <p:cNvSpPr/>
          <p:nvPr/>
        </p:nvSpPr>
        <p:spPr>
          <a:xfrm>
            <a:off x="7498080" y="6501384"/>
            <a:ext cx="4315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张家赫｜学号：2024193112｜儿科班｜PBL Case 1</a:t>
            </a:r>
            <a:endParaRPr lang="en-US" sz="84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3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105613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828800"/>
            <a:ext cx="1417320" cy="82296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29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3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1810512"/>
            <a:ext cx="7726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CML 的诊断标准与分期标准是什么？本病例目前符合哪些条目，还缺哪些确诊信息？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3 标题页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ZJHSteven\Desktop\大二下笔记\output\playwright\PPT-问题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4516"/>
            <a:ext cx="12191695" cy="443484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6510528"/>
            <a:ext cx="6995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来源：国家卫健委《慢性髓性白血病诊疗指南（2022年版）》；《内科学》第10版；中国 CML 指南 2025.</a:t>
            </a:r>
            <a:endParaRPr lang="en-US" sz="820" dirty="0"/>
          </a:p>
        </p:txBody>
      </p:sp>
      <p:sp>
        <p:nvSpPr>
          <p:cNvPr id="5" name="Text 2"/>
          <p:cNvSpPr/>
          <p:nvPr/>
        </p:nvSpPr>
        <p:spPr>
          <a:xfrm>
            <a:off x="7498080" y="6501384"/>
            <a:ext cx="4315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张家赫｜学号：2024193112｜儿科班｜PBL Case 1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3｜补充讨论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078992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鉴别诊断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49808" y="1828800"/>
            <a:ext cx="5376672" cy="4526280"/>
          </a:xfrm>
          <a:prstGeom prst="roundRect">
            <a:avLst>
              <a:gd name="adj" fmla="val 1010"/>
            </a:avLst>
          </a:prstGeom>
          <a:solidFill>
            <a:srgbClr val="F8FAFC"/>
          </a:solidFill>
          <a:ln w="1397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1993392"/>
            <a:ext cx="4974336" cy="4197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鉴别诊断：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（1）其他原因引起的脾大 血吸虫病、慢性疟疾、黑热病、肝硬化、脾功能亢进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等均有脾大,但均有各自原发病的临床特点，并且血象及骨髓象无 CML 的典型改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变。 Ph 染色体及 BCR::ABLI 融合基因均阴性。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6089904" y="1828800"/>
            <a:ext cx="5376672" cy="4526280"/>
          </a:xfrm>
          <a:prstGeom prst="roundRect">
            <a:avLst>
              <a:gd name="adj" fmla="val 1010"/>
            </a:avLst>
          </a:prstGeom>
          <a:solidFill>
            <a:srgbClr val="F8FAFC"/>
          </a:solidFill>
          <a:ln w="1397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2" y="1993392"/>
            <a:ext cx="4974336" cy="4197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（2）类白血病反应 常并发于严重感染、恶性肿瘤等基础疾病,并有相应原发病的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临床表现。粒细胞胞质中常有中毒颗粒和空泡。嗜酸性粒细胞和嗜碱性粒细胞不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增多。NAP 反应强阳性。Ph 染色体及 BCR::ABLI 融合基因阴性。血小板和血红蛋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白大多正常。原发病控制后,白细胞恢复正常。</a:t>
            </a:r>
            <a:endParaRPr lang="en-US" sz="1060" dirty="0"/>
          </a:p>
          <a:p>
            <a:pPr indent="0" marL="0">
              <a:buNone/>
            </a:pP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（3）骨髓纤维化 原发性骨髓纤维化脾大显著，血象中白细胞增多，并出现幼粒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细胞等，易与 CML 混淆。但骨髓纤维化外周血白细胞数一般比 CML 少，多不超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 30x109/L。 NAP 阳性。此外幼红细胞持续出现于外周血中，红细胞形态异常，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特别是泪滴状红细胞易见。 Ph 染色体及 BCR::ABLI 融合基因阴性。患者可存在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JAK2 V617F、CALR、MPL 基因突变。多次多部位骨髓穿刺干抽。骨髓活检网状纤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维染色阳性。</a:t>
            </a:r>
            <a:endParaRPr lang="en-US" sz="1060" dirty="0"/>
          </a:p>
        </p:txBody>
      </p:sp>
      <p:sp>
        <p:nvSpPr>
          <p:cNvPr id="10" name="Text 8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补充页｜依据 Word 标注整理：鉴别诊断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4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105613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828800"/>
            <a:ext cx="1417320" cy="82296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29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4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1810512"/>
            <a:ext cx="7726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 CML 会出现幼稚白细胞、核左移以及嗜酸/嗜碱粒细胞增多？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4 标题页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ZJHSteven\Desktop\大二下笔记\output\playwright\PPT-问题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4516"/>
            <a:ext cx="12191695" cy="443484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6510528"/>
            <a:ext cx="6995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引证：Hantschel O, et al. Nat Chem Biol. 2012；Targeting Leukemic Stem Cells, 2021.</a:t>
            </a:r>
            <a:endParaRPr lang="en-US" sz="820" dirty="0"/>
          </a:p>
        </p:txBody>
      </p:sp>
      <p:sp>
        <p:nvSpPr>
          <p:cNvPr id="5" name="Text 2"/>
          <p:cNvSpPr/>
          <p:nvPr/>
        </p:nvSpPr>
        <p:spPr>
          <a:xfrm>
            <a:off x="7498080" y="6501384"/>
            <a:ext cx="4315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张家赫｜学号：2024193112｜儿科班｜PBL Case 1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ZJHSteven\Desktop\大二下笔记\output\playwright\PPT-问题4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4516"/>
            <a:ext cx="12191695" cy="443484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6510528"/>
            <a:ext cx="6995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引证：Hayashi Y, et al. Leukemia. 2013；Srutova K, et al. Haematologica. 2018.</a:t>
            </a:r>
            <a:endParaRPr lang="en-US" sz="820" dirty="0"/>
          </a:p>
        </p:txBody>
      </p:sp>
      <p:sp>
        <p:nvSpPr>
          <p:cNvPr id="5" name="Text 2"/>
          <p:cNvSpPr/>
          <p:nvPr/>
        </p:nvSpPr>
        <p:spPr>
          <a:xfrm>
            <a:off x="7498080" y="6501384"/>
            <a:ext cx="4315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张家赫｜学号：2024193112｜儿科班｜PBL Case 1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ZJHSteven\Desktop\大二下笔记\output\playwright\PPT-问题4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4516"/>
            <a:ext cx="12191695" cy="443484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6510528"/>
            <a:ext cx="6995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引证：Peled A, Stem Cells 2002；Zhang B, Cancer Cell 2012；Krishnan V, Blood 2023；Warfvinge R, eLife 2024；Purhonen M, Leukemia 2025.</a:t>
            </a:r>
            <a:endParaRPr lang="en-US" sz="820" dirty="0"/>
          </a:p>
        </p:txBody>
      </p:sp>
      <p:sp>
        <p:nvSpPr>
          <p:cNvPr id="5" name="Text 2"/>
          <p:cNvSpPr/>
          <p:nvPr/>
        </p:nvSpPr>
        <p:spPr>
          <a:xfrm>
            <a:off x="7498080" y="6501384"/>
            <a:ext cx="4315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张家赫｜学号：2024193112｜儿科班｜PBL Case 1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5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105613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828800"/>
            <a:ext cx="1417320" cy="82296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29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5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1810512"/>
            <a:ext cx="7726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CML 的外周血涂片和骨髓象有哪些典型形态学特征？赵阿姨的检查结果是否匹配？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5 标题页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ZJHSteven\Desktop\大二下笔记\output\playwright\PPT-问题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6414516"/>
            <a:ext cx="12191695" cy="443484"/>
          </a:xfrm>
          <a:prstGeom prst="rect">
            <a:avLst/>
          </a:prstGeom>
          <a:solidFill>
            <a:srgbClr val="F8FAF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384048" y="6510528"/>
            <a:ext cx="6995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来源：《内科学》第10版 p.585；Gianelli U, et al. Virchows Arch, 2023；Case1-第二幕报告正文。</a:t>
            </a:r>
            <a:endParaRPr lang="en-US" sz="820" dirty="0"/>
          </a:p>
        </p:txBody>
      </p:sp>
      <p:sp>
        <p:nvSpPr>
          <p:cNvPr id="5" name="Text 2"/>
          <p:cNvSpPr/>
          <p:nvPr/>
        </p:nvSpPr>
        <p:spPr>
          <a:xfrm>
            <a:off x="7498080" y="6501384"/>
            <a:ext cx="4315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4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张家赫｜学号：2024193112｜儿科班｜PBL Case 1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6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417320"/>
            <a:ext cx="1056132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1828800"/>
            <a:ext cx="1417320" cy="822960"/>
          </a:xfrm>
          <a:prstGeom prst="roundRect">
            <a:avLst>
              <a:gd name="adj" fmla="val 6667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202996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665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6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788920" y="1810512"/>
            <a:ext cx="772668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CML 的病因、诱因和高危因素有哪些？本病例哪些暴露史值得追问，并如何落实一级、二级预防？</a:t>
            </a:r>
            <a:endParaRPr lang="en-US" sz="2300" dirty="0"/>
          </a:p>
        </p:txBody>
      </p:sp>
      <p:sp>
        <p:nvSpPr>
          <p:cNvPr id="9" name="Text 7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6 标题页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 6｜补充讨论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078992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病因、基本机制、诱因与高危因素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49808" y="1828800"/>
            <a:ext cx="5376672" cy="4526280"/>
          </a:xfrm>
          <a:prstGeom prst="roundRect">
            <a:avLst>
              <a:gd name="adj" fmla="val 1010"/>
            </a:avLst>
          </a:prstGeom>
          <a:solidFill>
            <a:srgbClr val="F8FAFC"/>
          </a:solidFill>
          <a:ln w="1397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50976" y="1993392"/>
            <a:ext cx="4974336" cy="4197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费城染色体（Ph 染色体）及其融合基因是 CML 的 确定性病因分子机制：9 号染色体长臂（9q34）上的 ABL 原癌基因，与 22 号染色体长臂（22q11）上的 BCR 基因发生易位，形成 t(9;22)(q34;q11)易位，即费城染色体（Ph 染色体）。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易位后产生 BCR-ABL1 融合基因，其编码的 BCR-ABL 融合蛋白具有持续激活的酪氨酸激酶活性，不受细胞正常调控，导致髓系细胞（粒细胞为主）不受控增殖、凋亡受抑，最终引发</a:t>
            </a:r>
            <a:endParaRPr lang="en-US" sz="1120" dirty="0"/>
          </a:p>
          <a:p>
            <a:pPr indent="0" marL="0">
              <a:buNone/>
            </a:pPr>
            <a:r>
              <a:rPr lang="en-US" sz="11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CML。</a:t>
            </a:r>
            <a:endParaRPr lang="en-US" sz="1120" dirty="0"/>
          </a:p>
        </p:txBody>
      </p:sp>
      <p:sp>
        <p:nvSpPr>
          <p:cNvPr id="8" name="Shape 6"/>
          <p:cNvSpPr/>
          <p:nvPr/>
        </p:nvSpPr>
        <p:spPr>
          <a:xfrm>
            <a:off x="6089904" y="1828800"/>
            <a:ext cx="5376672" cy="4526280"/>
          </a:xfrm>
          <a:prstGeom prst="roundRect">
            <a:avLst>
              <a:gd name="adj" fmla="val 1010"/>
            </a:avLst>
          </a:prstGeom>
          <a:solidFill>
            <a:srgbClr val="F8FAFC"/>
          </a:solidFill>
          <a:ln w="1397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91072" y="1993392"/>
            <a:ext cx="4974336" cy="4197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诱因及高危因素：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1）生物因素 主要是病毒感染和免疫功能异常。成人 T 细胞白血病、 类 T 淋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巴细胞病毒 I 型所致。病毒感染机件后，可作为内源性病毒整合并潜伏在宿主细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胞内，在某些理化因素作用下，被激活表达而诱发白血病;或作为外源性病毒在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外界以横向方式传播感染，直接致病。部分免疫功能异常者,如某些自身免疫病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患者,患白血病风险会增加。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2）物理因素 包括 X 射线、y 射线等电离辐射。1911 年首次报道了放射工作者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发生白血病的病例。日本广岛及长崎受原子弹袭击后， 幸存者中白血病发病率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比未受照射的人群高 30 倍和 17 倍，患者多为 AL 和 CML。研究表明，大面积和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大剂量照射可导致骨髓抑制和机体免疫力下降，DNA 突变、 断裂和重组,导致白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血病的发生。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3）化学因素 多年接触苯以及含有苯的有机溶剂与白血病的发生有关。乙双吗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啉是乙亚胺的衍生物,具有极强的致染色体畸变和致白血病作用。抗肿瘤药物中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烷化剂和拓扑异构酶Ⅱ抑制剂有致白血病的作用。化学物质所致的白血病以 AML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为多。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4）遗传因素 家族性白血病约占白血病的 0.7%。单卵孪生子,如果一个人发生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白血病,另一个人的发病率为 1/5,比双卵孪生者高 12 倍。Down 综合征(唐氏综合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征）有 21 号染色体三体改变,其白血病发病率达 50/10 万,是正常人群的 20 倍。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Fanconi 贫血、Bloom 综合征(侏儒面部毛细血管扩张)、 共济失调-毛细血管扩张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症及先天性免疫球蛋白缺乏症等患者的白血病发病率均较高。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5）其他血液病 某些血液病最终可能发展为白血病，如 MDS、PNH 等，亦有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淋巴瘤和骨髓瘤继发白血病的报道,但具体机制不明。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6）年龄因素 CML 发病高峰为 45~55 岁，年龄增长是重要的发病相关因素，儿童罕见发病，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老年人群发病率相对升高。</a:t>
            </a:r>
            <a:endParaRPr lang="en-US" sz="1060" dirty="0"/>
          </a:p>
          <a:p>
            <a:pPr indent="0" marL="0">
              <a:buNone/>
            </a:pPr>
            <a:r>
              <a:rPr lang="en-US" sz="106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7）性别因素 男性发病率略高于女性（约 1.4:1），但具体机制尚未明确，仅为流行病学关联。</a:t>
            </a:r>
            <a:endParaRPr lang="en-US" sz="1060" dirty="0"/>
          </a:p>
        </p:txBody>
      </p:sp>
      <p:sp>
        <p:nvSpPr>
          <p:cNvPr id="10" name="Text 8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补充页｜依据 Word 标注整理：病因 / 基本机制 / 诱因 / 高危因素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F5597"/>
          </a:solidFill>
          <a:ln w="12700">
            <a:solidFill>
              <a:srgbClr val="2F5597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8961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汇报结束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868680"/>
            <a:ext cx="12191695" cy="0"/>
          </a:xfrm>
          <a:prstGeom prst="line">
            <a:avLst/>
          </a:prstGeom>
          <a:noFill/>
          <a:ln w="15240">
            <a:solidFill>
              <a:srgbClr val="DCE6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1691640"/>
            <a:ext cx="10149840" cy="260604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CE6F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25880" y="2057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3C7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汇报结束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325880" y="2788920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7556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欢迎老师和同学继续提问讨论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406640" y="1993392"/>
            <a:ext cx="2468880" cy="1005840"/>
          </a:xfrm>
          <a:prstGeom prst="roundRect">
            <a:avLst>
              <a:gd name="adj" fmla="val 4545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06640" y="2331720"/>
            <a:ext cx="2468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D4E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谢谢聆听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02920" y="6419088"/>
            <a:ext cx="6217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总汇报结束页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909560" y="640080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血液与肿瘤｜PBL Case 1 第二幕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天津医科大学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PBL Case 1 第二幕总汇报</dc:title>
  <dc:subject>PBL Case 1 第二幕总汇报</dc:subject>
  <dc:creator>Codex + 张家赫</dc:creator>
  <cp:lastModifiedBy>Codex + 张家赫</cp:lastModifiedBy>
  <cp:revision>1</cp:revision>
  <dcterms:created xsi:type="dcterms:W3CDTF">2026-04-02T14:27:30Z</dcterms:created>
  <dcterms:modified xsi:type="dcterms:W3CDTF">2026-04-02T14:27:30Z</dcterms:modified>
</cp:coreProperties>
</file>